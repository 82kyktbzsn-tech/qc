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5" r:id="rId13"/>
    <p:sldId id="266" r:id="rId14"/>
    <p:sldId id="267" r:id="rId15"/>
    <p:sldId id="268" r:id="rId16"/>
    <p:sldId id="269" r:id="rId17"/>
    <p:sldId id="272" r:id="rId18"/>
    <p:sldId id="273" r:id="rId19"/>
    <p:sldId id="278" r:id="rId20"/>
    <p:sldId id="279" r:id="rId21"/>
    <p:sldId id="280" r:id="rId22"/>
    <p:sldId id="281" r:id="rId23"/>
    <p:sldId id="270" r:id="rId24"/>
    <p:sldId id="271" r:id="rId25"/>
  </p:sldIdLst>
  <p:sldSz cx="12191365" cy="6858000"/>
  <p:notesSz cx="6858000" cy="12191365"/>
  <p:custDataLst>
    <p:tags r:id="rId2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gs" Target="tags/tag49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开场：说明本次培训面向教务，目标是让大家看懂质检规则，并按字段口径提前把数据维护准确。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目录：培训分四部分，重点是规则表怎么看、检查节奏怎么走、异常怎么申诉、绩效口径如何计算。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强调目的：不是增加工作量，而是把合规口径提前交给教务，使系统维护时就能按规则填写。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说明：培训中的规则表是教务日常操作的参照表，关注字段和标准即可。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结合质检表表头逐项解释：分级、集团/学校要求、应用字段、质检标准和范围。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逐一说明时间点：月末最后一天、次月第一天上午、季度末集团检查，以及最终目标。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流程解释：先做业务核对和系统修改，只有与实际不一致或看板未同步时才进入申诉。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说明集团申诉和学校月检申诉两个入口。强调材料完整性。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这里是培训重点：绩效不是看月末下发的异常，而是看次日上午复检仍未修改的异常。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结束：感谢教务配合，后续以质检表和异常明细为准，有特殊情况及时沟通。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结束：感谢教务配合，后续以质检表和异常明细为准，有特殊情况及时沟通。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2" Type="http://schemas.openxmlformats.org/officeDocument/2006/relationships/notesSlide" Target="../notesSlides/notesSlide2.x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image" Target="../media/image5.png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423160"/>
            <a:ext cx="576072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数据合规质检规则培训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859536" y="3273552"/>
            <a:ext cx="576072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F6B8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班级信息 / 课表信息 / 字段级合规校验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22960" y="4114800"/>
            <a:ext cx="2011680" cy="384048"/>
          </a:xfrm>
          <a:prstGeom prst="roundRect">
            <a:avLst>
              <a:gd name="adj" fmla="val 23810"/>
            </a:avLst>
          </a:prstGeom>
          <a:solidFill>
            <a:srgbClr val="F5A000"/>
          </a:solidFill>
          <a:ln>
            <a:solidFill>
              <a:srgbClr val="F5A000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培训</a:t>
            </a: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人：</a:t>
            </a:r>
            <a:r>
              <a:rPr lang="zh-CN" alt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田晓晗</a:t>
            </a:r>
            <a:endParaRPr lang="zh-CN" altLang="en-US" sz="1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926080" y="4114800"/>
            <a:ext cx="192024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时间：2026.09.10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429000"/>
            <a:ext cx="12191695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>
            <p:custDataLst>
              <p:tags r:id="rId2"/>
            </p:custDataLst>
          </p:nvPr>
        </p:nvSpPr>
        <p:spPr>
          <a:xfrm>
            <a:off x="1423035" y="3752215"/>
            <a:ext cx="914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222222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Text 2"/>
          <p:cNvSpPr/>
          <p:nvPr>
            <p:custDataLst>
              <p:tags r:id="rId3"/>
            </p:custDataLst>
          </p:nvPr>
        </p:nvSpPr>
        <p:spPr>
          <a:xfrm>
            <a:off x="1313307" y="4602607"/>
            <a:ext cx="1463040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质检背景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与目的</a:t>
            </a:r>
            <a:endParaRPr lang="en-US" sz="1700" dirty="0"/>
          </a:p>
        </p:txBody>
      </p:sp>
      <p:sp>
        <p:nvSpPr>
          <p:cNvPr id="6" name="Text 3"/>
          <p:cNvSpPr/>
          <p:nvPr>
            <p:custDataLst>
              <p:tags r:id="rId4"/>
            </p:custDataLst>
          </p:nvPr>
        </p:nvSpPr>
        <p:spPr>
          <a:xfrm>
            <a:off x="1194435" y="5535295"/>
            <a:ext cx="178308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为什么要做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数据合规质检</a:t>
            </a:r>
            <a:endParaRPr lang="en-US" sz="1150" dirty="0"/>
          </a:p>
        </p:txBody>
      </p:sp>
      <p:sp>
        <p:nvSpPr>
          <p:cNvPr id="7" name="Shape 4"/>
          <p:cNvSpPr/>
          <p:nvPr>
            <p:custDataLst>
              <p:tags r:id="rId5"/>
            </p:custDataLst>
          </p:nvPr>
        </p:nvSpPr>
        <p:spPr>
          <a:xfrm>
            <a:off x="2891155" y="3752215"/>
            <a:ext cx="0" cy="2011680"/>
          </a:xfrm>
          <a:prstGeom prst="line">
            <a:avLst/>
          </a:prstGeom>
          <a:noFill/>
          <a:ln w="12700">
            <a:solidFill>
              <a:srgbClr val="D9E2DD"/>
            </a:solidFill>
            <a:prstDash val="solid"/>
          </a:ln>
        </p:spPr>
      </p:sp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3400298" y="3752215"/>
            <a:ext cx="914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222222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4000" dirty="0"/>
          </a:p>
        </p:txBody>
      </p:sp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3290570" y="4602607"/>
            <a:ext cx="1463040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质检内容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与频率</a:t>
            </a:r>
            <a:endParaRPr lang="en-US" sz="1700" dirty="0"/>
          </a:p>
        </p:txBody>
      </p:sp>
      <p:sp>
        <p:nvSpPr>
          <p:cNvPr id="10" name="Text 7"/>
          <p:cNvSpPr/>
          <p:nvPr>
            <p:custDataLst>
              <p:tags r:id="rId8"/>
            </p:custDataLst>
          </p:nvPr>
        </p:nvSpPr>
        <p:spPr>
          <a:xfrm>
            <a:off x="3171698" y="5535295"/>
            <a:ext cx="178308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看懂质检表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按节奏闭环</a:t>
            </a:r>
            <a:endParaRPr lang="en-US" sz="1150" dirty="0"/>
          </a:p>
        </p:txBody>
      </p:sp>
      <p:sp>
        <p:nvSpPr>
          <p:cNvPr id="11" name="Shape 8"/>
          <p:cNvSpPr/>
          <p:nvPr>
            <p:custDataLst>
              <p:tags r:id="rId9"/>
            </p:custDataLst>
          </p:nvPr>
        </p:nvSpPr>
        <p:spPr>
          <a:xfrm>
            <a:off x="4989068" y="3752215"/>
            <a:ext cx="0" cy="2011680"/>
          </a:xfrm>
          <a:prstGeom prst="line">
            <a:avLst/>
          </a:prstGeom>
          <a:noFill/>
          <a:ln w="12700">
            <a:solidFill>
              <a:srgbClr val="D9E2DD"/>
            </a:solidFill>
            <a:prstDash val="solid"/>
          </a:ln>
        </p:spPr>
      </p:sp>
      <p:sp>
        <p:nvSpPr>
          <p:cNvPr id="12" name="Text 9"/>
          <p:cNvSpPr/>
          <p:nvPr>
            <p:custDataLst>
              <p:tags r:id="rId10"/>
            </p:custDataLst>
          </p:nvPr>
        </p:nvSpPr>
        <p:spPr>
          <a:xfrm>
            <a:off x="5427726" y="3752215"/>
            <a:ext cx="914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222222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4000" dirty="0"/>
          </a:p>
        </p:txBody>
      </p:sp>
      <p:sp>
        <p:nvSpPr>
          <p:cNvPr id="13" name="Text 10"/>
          <p:cNvSpPr/>
          <p:nvPr>
            <p:custDataLst>
              <p:tags r:id="rId11"/>
            </p:custDataLst>
          </p:nvPr>
        </p:nvSpPr>
        <p:spPr>
          <a:xfrm>
            <a:off x="5317998" y="4602607"/>
            <a:ext cx="1463040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异常处理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与申诉</a:t>
            </a:r>
            <a:endParaRPr lang="en-US" sz="1700" dirty="0"/>
          </a:p>
        </p:txBody>
      </p:sp>
      <p:sp>
        <p:nvSpPr>
          <p:cNvPr id="14" name="Text 11"/>
          <p:cNvSpPr/>
          <p:nvPr>
            <p:custDataLst>
              <p:tags r:id="rId12"/>
            </p:custDataLst>
          </p:nvPr>
        </p:nvSpPr>
        <p:spPr>
          <a:xfrm>
            <a:off x="5199126" y="5535295"/>
            <a:ext cx="178308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异常如何修改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什么情况可申诉</a:t>
            </a:r>
            <a:endParaRPr lang="en-US" sz="1150" dirty="0"/>
          </a:p>
        </p:txBody>
      </p:sp>
      <p:sp>
        <p:nvSpPr>
          <p:cNvPr id="15" name="Shape 12"/>
          <p:cNvSpPr/>
          <p:nvPr>
            <p:custDataLst>
              <p:tags r:id="rId13"/>
            </p:custDataLst>
          </p:nvPr>
        </p:nvSpPr>
        <p:spPr>
          <a:xfrm>
            <a:off x="7010781" y="3752215"/>
            <a:ext cx="0" cy="2011680"/>
          </a:xfrm>
          <a:prstGeom prst="line">
            <a:avLst/>
          </a:prstGeom>
          <a:noFill/>
          <a:ln w="12700">
            <a:solidFill>
              <a:srgbClr val="D9E2DD"/>
            </a:solidFill>
            <a:prstDash val="solid"/>
          </a:ln>
        </p:spPr>
      </p:sp>
      <p:sp>
        <p:nvSpPr>
          <p:cNvPr id="16" name="Text 13"/>
          <p:cNvSpPr/>
          <p:nvPr>
            <p:custDataLst>
              <p:tags r:id="rId14"/>
            </p:custDataLst>
          </p:nvPr>
        </p:nvSpPr>
        <p:spPr>
          <a:xfrm>
            <a:off x="7455789" y="3752215"/>
            <a:ext cx="914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222222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4000" dirty="0"/>
          </a:p>
        </p:txBody>
      </p:sp>
      <p:sp>
        <p:nvSpPr>
          <p:cNvPr id="17" name="Text 14"/>
          <p:cNvSpPr/>
          <p:nvPr>
            <p:custDataLst>
              <p:tags r:id="rId15"/>
            </p:custDataLst>
          </p:nvPr>
        </p:nvSpPr>
        <p:spPr>
          <a:xfrm>
            <a:off x="7346061" y="4602607"/>
            <a:ext cx="1463040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绩效关联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与要求</a:t>
            </a:r>
            <a:endParaRPr lang="en-US" sz="1700" dirty="0"/>
          </a:p>
        </p:txBody>
      </p:sp>
      <p:sp>
        <p:nvSpPr>
          <p:cNvPr id="18" name="Text 15"/>
          <p:cNvSpPr/>
          <p:nvPr>
            <p:custDataLst>
              <p:tags r:id="rId16"/>
            </p:custDataLst>
          </p:nvPr>
        </p:nvSpPr>
        <p:spPr>
          <a:xfrm>
            <a:off x="7227189" y="5535295"/>
            <a:ext cx="178308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复检口径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执行重点</a:t>
            </a:r>
            <a:endParaRPr lang="en-US" sz="1150" dirty="0"/>
          </a:p>
        </p:txBody>
      </p:sp>
      <p:sp>
        <p:nvSpPr>
          <p:cNvPr id="19" name="Shape 12"/>
          <p:cNvSpPr/>
          <p:nvPr>
            <p:custDataLst>
              <p:tags r:id="rId17"/>
            </p:custDataLst>
          </p:nvPr>
        </p:nvSpPr>
        <p:spPr>
          <a:xfrm>
            <a:off x="9098661" y="3752215"/>
            <a:ext cx="0" cy="2011680"/>
          </a:xfrm>
          <a:prstGeom prst="line">
            <a:avLst/>
          </a:prstGeom>
          <a:noFill/>
          <a:ln w="12700">
            <a:solidFill>
              <a:srgbClr val="D9E2DD"/>
            </a:solidFill>
            <a:prstDash val="solid"/>
          </a:ln>
        </p:spPr>
      </p:sp>
      <p:sp>
        <p:nvSpPr>
          <p:cNvPr id="20" name="Text 13"/>
          <p:cNvSpPr/>
          <p:nvPr>
            <p:custDataLst>
              <p:tags r:id="rId18"/>
            </p:custDataLst>
          </p:nvPr>
        </p:nvSpPr>
        <p:spPr>
          <a:xfrm>
            <a:off x="9701149" y="3752215"/>
            <a:ext cx="914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4000" dirty="0">
                <a:solidFill>
                  <a:srgbClr val="222222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4000" dirty="0"/>
          </a:p>
        </p:txBody>
      </p:sp>
      <p:sp>
        <p:nvSpPr>
          <p:cNvPr id="21" name="Text 14"/>
          <p:cNvSpPr/>
          <p:nvPr>
            <p:custDataLst>
              <p:tags r:id="rId19"/>
            </p:custDataLst>
          </p:nvPr>
        </p:nvSpPr>
        <p:spPr>
          <a:xfrm>
            <a:off x="9591421" y="4602607"/>
            <a:ext cx="1463040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 algn="ctr">
              <a:buNone/>
            </a:pPr>
            <a:r>
              <a:rPr lang="en-US" sz="17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自查自检工具&amp;方法</a:t>
            </a:r>
            <a:endParaRPr lang="en-US" sz="1700" b="1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2" name="Text 15"/>
          <p:cNvSpPr/>
          <p:nvPr>
            <p:custDataLst>
              <p:tags r:id="rId20"/>
            </p:custDataLst>
          </p:nvPr>
        </p:nvSpPr>
        <p:spPr>
          <a:xfrm>
            <a:off x="9472549" y="5535295"/>
            <a:ext cx="178308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algn="ctr">
              <a:buClrTx/>
              <a:buSzTx/>
              <a:buNone/>
            </a:pPr>
            <a:r>
              <a:rPr lang="en-US" sz="11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如何进行</a:t>
            </a:r>
            <a:endParaRPr lang="en-US" sz="115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algn="ctr">
              <a:buClrTx/>
              <a:buSzTx/>
              <a:buNone/>
            </a:pPr>
            <a:r>
              <a:rPr lang="zh-CN" altLang="en-US" sz="11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自查</a:t>
            </a:r>
            <a:r>
              <a:rPr lang="en-US" sz="11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自检</a:t>
            </a:r>
            <a:endParaRPr lang="en-US" sz="115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2395728"/>
            <a:ext cx="15544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dirty="0">
                <a:solidFill>
                  <a:srgbClr val="F6B8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5800" dirty="0"/>
          </a:p>
        </p:txBody>
      </p:sp>
      <p:sp>
        <p:nvSpPr>
          <p:cNvPr id="4" name="Text 1"/>
          <p:cNvSpPr/>
          <p:nvPr/>
        </p:nvSpPr>
        <p:spPr>
          <a:xfrm>
            <a:off x="749808" y="3456432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第一章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58952" y="4096512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质检背景与目的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58952" y="4690872"/>
            <a:ext cx="10789920" cy="0"/>
          </a:xfrm>
          <a:prstGeom prst="line">
            <a:avLst/>
          </a:prstGeom>
          <a:noFill/>
          <a:ln w="1016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" y="4919472"/>
            <a:ext cx="5577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从“发现异常”前移到“按规则维护数据”，确保集团</a:t>
            </a:r>
            <a:r>
              <a:rPr lang="zh-CN" alt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质检</a:t>
            </a: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看板与审计</a:t>
            </a:r>
            <a:r>
              <a:rPr lang="zh-CN" alt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无异常</a:t>
            </a: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84048"/>
            <a:ext cx="10515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3A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为什么要做数据合规质检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097280" y="841248"/>
            <a:ext cx="9966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核心不是“挑错”，而是把合规要求转化为可执行的数据维护动作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060450" y="1737360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B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从事后整改，到前置规范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106170" y="2331720"/>
            <a:ext cx="4297680" cy="10515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algn="l">
              <a:lnSpc>
                <a:spcPct val="110000"/>
              </a:lnSpc>
            </a:pPr>
            <a:r>
              <a:rPr sz="1600">
                <a:solidFill>
                  <a:srgbClr val="5F6970"/>
                </a:solidFill>
                <a:latin typeface="微软雅黑"/>
                <a:sym typeface="+mn-ea"/>
              </a:rPr>
              <a:t>把合规要求前置到设班和排课动作中，再通过月度质检做后置兜底；前置有人管、后置有人查，形成完整闭环。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197610" y="4160520"/>
            <a:ext cx="3566160" cy="0"/>
          </a:xfrm>
          <a:prstGeom prst="line">
            <a:avLst/>
          </a:prstGeom>
          <a:noFill/>
          <a:ln w="31750">
            <a:solidFill>
              <a:srgbClr val="006B52"/>
            </a:solidFill>
            <a:prstDash val="solid"/>
            <a:headEnd type="none"/>
            <a:tailEnd type="triangle"/>
          </a:ln>
        </p:spPr>
      </p:sp>
      <p:sp>
        <p:nvSpPr>
          <p:cNvPr id="8" name="Text 5"/>
          <p:cNvSpPr/>
          <p:nvPr/>
        </p:nvSpPr>
        <p:spPr>
          <a:xfrm>
            <a:off x="1060450" y="3886200"/>
            <a:ext cx="1143000" cy="530352"/>
          </a:xfrm>
          <a:prstGeom prst="roundRect">
            <a:avLst>
              <a:gd name="adj" fmla="val 17241"/>
            </a:avLst>
          </a:prstGeom>
          <a:solidFill>
            <a:srgbClr val="006B52"/>
          </a:solidFill>
          <a:ln>
            <a:solidFill>
              <a:srgbClr val="006B52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发现异常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889250" y="3886200"/>
            <a:ext cx="1143000" cy="530352"/>
          </a:xfrm>
          <a:prstGeom prst="roundRect">
            <a:avLst>
              <a:gd name="adj" fmla="val 17241"/>
            </a:avLst>
          </a:prstGeom>
          <a:solidFill>
            <a:srgbClr val="006B52"/>
          </a:solidFill>
          <a:ln>
            <a:solidFill>
              <a:srgbClr val="006B52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修改数据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718050" y="3886200"/>
            <a:ext cx="1143000" cy="530352"/>
          </a:xfrm>
          <a:prstGeom prst="roundRect">
            <a:avLst>
              <a:gd name="adj" fmla="val 17241"/>
            </a:avLst>
          </a:prstGeom>
          <a:solidFill>
            <a:srgbClr val="F6B800"/>
          </a:solidFill>
          <a:ln>
            <a:solidFill>
              <a:srgbClr val="F6B800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3A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看板无异常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089650" y="1792224"/>
            <a:ext cx="594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6B8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693154" y="175564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6B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统一口径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711442" y="2194560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每条规则同时包含集团要求与学校要求，避免不同人员理解不一致。</a:t>
            </a:r>
            <a:endParaRPr lang="en-US" sz="1380" dirty="0"/>
          </a:p>
        </p:txBody>
      </p:sp>
      <p:sp>
        <p:nvSpPr>
          <p:cNvPr id="14" name="Shape 11"/>
          <p:cNvSpPr/>
          <p:nvPr/>
        </p:nvSpPr>
        <p:spPr>
          <a:xfrm>
            <a:off x="6089650" y="2761488"/>
            <a:ext cx="5212080" cy="0"/>
          </a:xfrm>
          <a:prstGeom prst="line">
            <a:avLst/>
          </a:prstGeom>
          <a:noFill/>
          <a:ln w="10160">
            <a:solidFill>
              <a:srgbClr val="D9E2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9650" y="2980944"/>
            <a:ext cx="594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6B8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693154" y="294436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6B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提前修正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711442" y="3383280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学校每月先检查、先处理，减少季度集团质检时集中暴露异常。</a:t>
            </a:r>
            <a:endParaRPr lang="en-US" sz="1380" dirty="0"/>
          </a:p>
        </p:txBody>
      </p:sp>
      <p:sp>
        <p:nvSpPr>
          <p:cNvPr id="18" name="Shape 15"/>
          <p:cNvSpPr/>
          <p:nvPr/>
        </p:nvSpPr>
        <p:spPr>
          <a:xfrm>
            <a:off x="6089650" y="3950208"/>
            <a:ext cx="5212080" cy="0"/>
          </a:xfrm>
          <a:prstGeom prst="line">
            <a:avLst/>
          </a:prstGeom>
          <a:noFill/>
          <a:ln w="10160">
            <a:solidFill>
              <a:srgbClr val="D9E2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9650" y="4169664"/>
            <a:ext cx="594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6B8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693154" y="413308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6B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降低风险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711442" y="4572000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最终目标是集团质检看板无异常、审计检查无异常。</a:t>
            </a:r>
            <a:endParaRPr lang="en-US" sz="1380" dirty="0"/>
          </a:p>
        </p:txBody>
      </p:sp>
      <p:sp>
        <p:nvSpPr>
          <p:cNvPr id="22" name="Shape 19"/>
          <p:cNvSpPr/>
          <p:nvPr/>
        </p:nvSpPr>
        <p:spPr>
          <a:xfrm>
            <a:off x="6089650" y="5138928"/>
            <a:ext cx="5212080" cy="0"/>
          </a:xfrm>
          <a:prstGeom prst="line">
            <a:avLst/>
          </a:prstGeom>
          <a:noFill/>
          <a:ln w="10160">
            <a:solidFill>
              <a:srgbClr val="D9E2DD"/>
            </a:solidFill>
            <a:prstDash val="solid"/>
          </a:ln>
        </p:spPr>
      </p:sp>
      <p:sp>
        <p:nvSpPr>
          <p:cNvPr id="23" name="Text 14"/>
          <p:cNvSpPr/>
          <p:nvPr/>
        </p:nvSpPr>
        <p:spPr>
          <a:xfrm>
            <a:off x="1120267" y="5189220"/>
            <a:ext cx="10012680" cy="411480"/>
          </a:xfrm>
          <a:prstGeom prst="roundRect">
            <a:avLst/>
          </a:prstGeom>
          <a:solidFill>
            <a:srgbClr val="006B52"/>
          </a:solidFill>
          <a:ln>
            <a:solidFill>
              <a:srgbClr val="006B52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750" b="1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设班即合规</a:t>
            </a:r>
            <a:r>
              <a:rPr lang="en-US" altLang="zh-CN" sz="1750" b="1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、</a:t>
            </a:r>
            <a:r>
              <a:rPr lang="zh-CN" altLang="en-US" sz="1750" b="1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设班即准确</a:t>
            </a:r>
            <a:endParaRPr lang="zh-CN" altLang="en-US" sz="1750" b="1" dirty="0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84048"/>
            <a:ext cx="10515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3A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质检覆盖对象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097280" y="841248"/>
            <a:ext cx="9966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围绕班级信息、</a:t>
            </a:r>
            <a:r>
              <a:rPr lang="zh-CN" altLang="en-US" sz="12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</a:t>
            </a:r>
            <a:r>
              <a:rPr lang="en-US" sz="12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课表信息等核心业务数据，形成字段级校验规则</a:t>
            </a:r>
            <a:endParaRPr lang="en-US" sz="1250" dirty="0"/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1394460" y="3314700"/>
            <a:ext cx="9372600" cy="0"/>
          </a:xfrm>
          <a:prstGeom prst="line">
            <a:avLst/>
          </a:prstGeom>
          <a:noFill/>
          <a:ln w="25400">
            <a:solidFill>
              <a:srgbClr val="D9E2DD"/>
            </a:solidFill>
            <a:prstDash val="solid"/>
          </a:ln>
        </p:spPr>
      </p:sp>
      <p:sp>
        <p:nvSpPr>
          <p:cNvPr id="6" name="Text 3"/>
          <p:cNvSpPr/>
          <p:nvPr>
            <p:custDataLst>
              <p:tags r:id="rId3"/>
            </p:custDataLst>
          </p:nvPr>
        </p:nvSpPr>
        <p:spPr>
          <a:xfrm>
            <a:off x="2377440" y="180594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6B8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1783080" y="249174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B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数据对象</a:t>
            </a:r>
            <a:endParaRPr lang="en-US" sz="2000" dirty="0"/>
          </a:p>
        </p:txBody>
      </p:sp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1600200" y="3634740"/>
            <a:ext cx="2560320" cy="1115568"/>
          </a:xfrm>
          <a:prstGeom prst="roundRect">
            <a:avLst/>
          </a:prstGeom>
          <a:solidFill>
            <a:srgbClr val="F3F6F4"/>
          </a:solidFill>
          <a:ln w="10160">
            <a:solidFill>
              <a:srgbClr val="D9E2D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班级信息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课表信息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其他涉及合规字段</a:t>
            </a:r>
            <a:endParaRPr lang="en-US" sz="1600" dirty="0"/>
          </a:p>
        </p:txBody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5623560" y="180594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6B8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7"/>
          <p:cNvSpPr/>
          <p:nvPr>
            <p:custDataLst>
              <p:tags r:id="rId7"/>
            </p:custDataLst>
          </p:nvPr>
        </p:nvSpPr>
        <p:spPr>
          <a:xfrm>
            <a:off x="5029200" y="249174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B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规则来源</a:t>
            </a:r>
            <a:endParaRPr lang="en-US" sz="2000" dirty="0"/>
          </a:p>
        </p:txBody>
      </p:sp>
      <p:sp>
        <p:nvSpPr>
          <p:cNvPr id="11" name="Text 8"/>
          <p:cNvSpPr/>
          <p:nvPr>
            <p:custDataLst>
              <p:tags r:id="rId8"/>
            </p:custDataLst>
          </p:nvPr>
        </p:nvSpPr>
        <p:spPr>
          <a:xfrm>
            <a:off x="4846320" y="3634740"/>
            <a:ext cx="2560320" cy="1115568"/>
          </a:xfrm>
          <a:prstGeom prst="roundRect">
            <a:avLst/>
          </a:prstGeom>
          <a:solidFill>
            <a:srgbClr val="F3F6F4"/>
          </a:solidFill>
          <a:ln w="10160">
            <a:solidFill>
              <a:srgbClr val="D9E2D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集团合规要求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学校合规要求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审计关注口径</a:t>
            </a:r>
            <a:endParaRPr lang="en-US" sz="1600" dirty="0"/>
          </a:p>
        </p:txBody>
      </p:sp>
      <p:sp>
        <p:nvSpPr>
          <p:cNvPr id="12" name="Text 9"/>
          <p:cNvSpPr/>
          <p:nvPr>
            <p:custDataLst>
              <p:tags r:id="rId9"/>
            </p:custDataLst>
          </p:nvPr>
        </p:nvSpPr>
        <p:spPr>
          <a:xfrm>
            <a:off x="8869680" y="180594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6B8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0"/>
          <p:cNvSpPr/>
          <p:nvPr>
            <p:custDataLst>
              <p:tags r:id="rId10"/>
            </p:custDataLst>
          </p:nvPr>
        </p:nvSpPr>
        <p:spPr>
          <a:xfrm>
            <a:off x="8275320" y="249174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B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执行结果</a:t>
            </a:r>
            <a:endParaRPr lang="en-US" sz="2000" dirty="0"/>
          </a:p>
        </p:txBody>
      </p:sp>
      <p:sp>
        <p:nvSpPr>
          <p:cNvPr id="14" name="Text 11"/>
          <p:cNvSpPr/>
          <p:nvPr>
            <p:custDataLst>
              <p:tags r:id="rId11"/>
            </p:custDataLst>
          </p:nvPr>
        </p:nvSpPr>
        <p:spPr>
          <a:xfrm>
            <a:off x="8092440" y="3634740"/>
            <a:ext cx="2560320" cy="1115568"/>
          </a:xfrm>
          <a:prstGeom prst="roundRect">
            <a:avLst/>
          </a:prstGeom>
          <a:solidFill>
            <a:srgbClr val="F3F6F4"/>
          </a:solidFill>
          <a:ln w="10160">
            <a:solidFill>
              <a:srgbClr val="D9E2D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异常数据清单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教务修改闭环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看板与审计无异常</a:t>
            </a:r>
            <a:endParaRPr lang="en-US" sz="1600" dirty="0"/>
          </a:p>
        </p:txBody>
      </p:sp>
      <p:sp>
        <p:nvSpPr>
          <p:cNvPr id="15" name="Shape 12"/>
          <p:cNvSpPr/>
          <p:nvPr>
            <p:custDataLst>
              <p:tags r:id="rId12"/>
            </p:custDataLst>
          </p:nvPr>
        </p:nvSpPr>
        <p:spPr>
          <a:xfrm>
            <a:off x="4130040" y="3314700"/>
            <a:ext cx="777240" cy="0"/>
          </a:xfrm>
          <a:prstGeom prst="line">
            <a:avLst/>
          </a:prstGeom>
          <a:noFill/>
          <a:ln w="27940">
            <a:solidFill>
              <a:srgbClr val="006B52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>
            <p:custDataLst>
              <p:tags r:id="rId13"/>
            </p:custDataLst>
          </p:nvPr>
        </p:nvSpPr>
        <p:spPr>
          <a:xfrm>
            <a:off x="7376160" y="3314700"/>
            <a:ext cx="777240" cy="0"/>
          </a:xfrm>
          <a:prstGeom prst="line">
            <a:avLst/>
          </a:prstGeom>
          <a:noFill/>
          <a:ln w="27940">
            <a:solidFill>
              <a:srgbClr val="006B52"/>
            </a:solidFill>
            <a:prstDash val="solid"/>
            <a:headEnd type="none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1120267" y="5189220"/>
            <a:ext cx="10012680" cy="411480"/>
          </a:xfrm>
          <a:prstGeom prst="roundRect">
            <a:avLst/>
          </a:prstGeom>
          <a:solidFill>
            <a:srgbClr val="006B52"/>
          </a:solidFill>
          <a:ln>
            <a:solidFill>
              <a:srgbClr val="006B52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质检规则的价值：把“要求”翻译成“字段怎么填、范围怎么查、异常怎么改”。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2395728"/>
            <a:ext cx="15544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dirty="0">
                <a:solidFill>
                  <a:srgbClr val="F6B8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5800" dirty="0"/>
          </a:p>
        </p:txBody>
      </p:sp>
      <p:sp>
        <p:nvSpPr>
          <p:cNvPr id="4" name="Text 1"/>
          <p:cNvSpPr/>
          <p:nvPr/>
        </p:nvSpPr>
        <p:spPr>
          <a:xfrm>
            <a:off x="749808" y="3456432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第二章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58952" y="4096512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质检内容与质检频率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58952" y="4690872"/>
            <a:ext cx="10789920" cy="0"/>
          </a:xfrm>
          <a:prstGeom prst="line">
            <a:avLst/>
          </a:prstGeom>
          <a:noFill/>
          <a:ln w="1016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" y="4919472"/>
            <a:ext cx="557784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看懂质检表的字段结构，按“月度学校检查 + 季度集团检查”节奏闭环。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84048"/>
            <a:ext cx="10515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3A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质检</a:t>
            </a:r>
            <a:r>
              <a:rPr lang="zh-CN" altLang="en-US" sz="2800" b="1" dirty="0">
                <a:solidFill>
                  <a:srgbClr val="083A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</a:t>
            </a:r>
            <a:r>
              <a:rPr lang="en-US" sz="2800" b="1" dirty="0">
                <a:solidFill>
                  <a:srgbClr val="083A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表怎么</a:t>
            </a:r>
            <a:r>
              <a:rPr lang="zh-CN" altLang="en-US" sz="2800" b="1" dirty="0">
                <a:solidFill>
                  <a:srgbClr val="083A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</a:t>
            </a:r>
            <a:endParaRPr lang="zh-CN" altLang="en-US" sz="2800" b="1" dirty="0">
              <a:solidFill>
                <a:srgbClr val="083A2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097280" y="841248"/>
            <a:ext cx="9966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每条规则都被拆解到字段：谁检查、查什么、按什么标准判断</a:t>
            </a:r>
            <a:endParaRPr lang="en-US" sz="1250" dirty="0"/>
          </a:p>
        </p:txBody>
      </p:sp>
      <p:pic>
        <p:nvPicPr>
          <p:cNvPr id="5" name="Image 1" descr="/mnt/data/b381e8c0-78cc-4492-b8cc-29b919729e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7320"/>
            <a:ext cx="10863072" cy="47548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14400" y="2103120"/>
            <a:ext cx="10287000" cy="0"/>
          </a:xfrm>
          <a:prstGeom prst="line">
            <a:avLst/>
          </a:prstGeom>
          <a:noFill/>
          <a:ln w="12700">
            <a:solidFill>
              <a:srgbClr val="D9E2DD"/>
            </a:solidFill>
            <a:prstDash val="solid"/>
          </a:ln>
        </p:spPr>
      </p:sp>
      <p:sp>
        <p:nvSpPr>
          <p:cNvPr id="7" name="Text 3"/>
          <p:cNvSpPr/>
          <p:nvPr>
            <p:custDataLst>
              <p:tags r:id="rId3"/>
            </p:custDataLst>
          </p:nvPr>
        </p:nvSpPr>
        <p:spPr>
          <a:xfrm>
            <a:off x="777240" y="242316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6B800"/>
          </a:solidFill>
          <a:ln>
            <a:solidFill>
              <a:srgbClr val="F6B800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3A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4"/>
          <p:cNvSpPr/>
          <p:nvPr>
            <p:custDataLst>
              <p:tags r:id="rId4"/>
            </p:custDataLst>
          </p:nvPr>
        </p:nvSpPr>
        <p:spPr>
          <a:xfrm>
            <a:off x="1435608" y="2450592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B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规则来源与分级</a:t>
            </a:r>
            <a:endParaRPr lang="en-US" sz="1800" dirty="0"/>
          </a:p>
        </p:txBody>
      </p:sp>
      <p:sp>
        <p:nvSpPr>
          <p:cNvPr id="9" name="Text 5"/>
          <p:cNvSpPr/>
          <p:nvPr>
            <p:custDataLst>
              <p:tags r:id="rId5"/>
            </p:custDataLst>
          </p:nvPr>
        </p:nvSpPr>
        <p:spPr>
          <a:xfrm>
            <a:off x="777240" y="3063240"/>
            <a:ext cx="3246120" cy="1353312"/>
          </a:xfrm>
          <a:prstGeom prst="roundRect">
            <a:avLst/>
          </a:prstGeom>
          <a:solidFill>
            <a:srgbClr val="F3F6F4"/>
          </a:solidFill>
          <a:ln w="10160">
            <a:solidFill>
              <a:srgbClr val="D9E2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质检类别、国外是否检查、质检分级，明确该规则的重要程度与适用场景。</a:t>
            </a:r>
            <a:endParaRPr lang="en-US" sz="1520" dirty="0"/>
          </a:p>
        </p:txBody>
      </p:sp>
      <p:sp>
        <p:nvSpPr>
          <p:cNvPr id="10" name="Text 6"/>
          <p:cNvSpPr/>
          <p:nvPr>
            <p:custDataLst>
              <p:tags r:id="rId6"/>
            </p:custDataLst>
          </p:nvPr>
        </p:nvSpPr>
        <p:spPr>
          <a:xfrm>
            <a:off x="4572000" y="242316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6B800"/>
          </a:solidFill>
          <a:ln>
            <a:solidFill>
              <a:srgbClr val="F6B800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3A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7"/>
          <p:cNvSpPr/>
          <p:nvPr>
            <p:custDataLst>
              <p:tags r:id="rId7"/>
            </p:custDataLst>
          </p:nvPr>
        </p:nvSpPr>
        <p:spPr>
          <a:xfrm>
            <a:off x="5230368" y="2450592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B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合规要求</a:t>
            </a:r>
            <a:endParaRPr lang="en-US" sz="1800" dirty="0"/>
          </a:p>
        </p:txBody>
      </p:sp>
      <p:sp>
        <p:nvSpPr>
          <p:cNvPr id="12" name="Text 8"/>
          <p:cNvSpPr/>
          <p:nvPr>
            <p:custDataLst>
              <p:tags r:id="rId8"/>
            </p:custDataLst>
          </p:nvPr>
        </p:nvSpPr>
        <p:spPr>
          <a:xfrm>
            <a:off x="4572000" y="3063240"/>
            <a:ext cx="3246120" cy="1353312"/>
          </a:xfrm>
          <a:prstGeom prst="roundRect">
            <a:avLst/>
          </a:prstGeom>
          <a:solidFill>
            <a:srgbClr val="F3F6F4"/>
          </a:solidFill>
          <a:ln w="10160">
            <a:solidFill>
              <a:srgbClr val="D9E2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集团合规要求与学校合规要求并列展示，便于判断数据应遵循哪套口径。</a:t>
            </a:r>
            <a:endParaRPr lang="en-US" sz="1520" dirty="0"/>
          </a:p>
        </p:txBody>
      </p:sp>
      <p:sp>
        <p:nvSpPr>
          <p:cNvPr id="13" name="Text 9"/>
          <p:cNvSpPr/>
          <p:nvPr>
            <p:custDataLst>
              <p:tags r:id="rId9"/>
            </p:custDataLst>
          </p:nvPr>
        </p:nvSpPr>
        <p:spPr>
          <a:xfrm>
            <a:off x="8366760" y="242316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6B800"/>
          </a:solidFill>
          <a:ln>
            <a:solidFill>
              <a:srgbClr val="F6B800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3A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0"/>
          <p:cNvSpPr/>
          <p:nvPr>
            <p:custDataLst>
              <p:tags r:id="rId10"/>
            </p:custDataLst>
          </p:nvPr>
        </p:nvSpPr>
        <p:spPr>
          <a:xfrm>
            <a:off x="9025128" y="2450592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B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字段与标准</a:t>
            </a:r>
            <a:endParaRPr lang="en-US" sz="1800" dirty="0"/>
          </a:p>
        </p:txBody>
      </p:sp>
      <p:sp>
        <p:nvSpPr>
          <p:cNvPr id="15" name="Text 11"/>
          <p:cNvSpPr/>
          <p:nvPr>
            <p:custDataLst>
              <p:tags r:id="rId11"/>
            </p:custDataLst>
          </p:nvPr>
        </p:nvSpPr>
        <p:spPr>
          <a:xfrm>
            <a:off x="8366760" y="3063240"/>
            <a:ext cx="3246120" cy="1353312"/>
          </a:xfrm>
          <a:prstGeom prst="roundRect">
            <a:avLst/>
          </a:prstGeom>
          <a:solidFill>
            <a:srgbClr val="F3F6F4"/>
          </a:solidFill>
          <a:ln w="10160">
            <a:solidFill>
              <a:srgbClr val="D9E2D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质检使用到的字段、质检标准、质检范围，直接对应教务需要维护的系统字段。</a:t>
            </a:r>
            <a:endParaRPr lang="en-US" sz="1520" dirty="0"/>
          </a:p>
        </p:txBody>
      </p:sp>
      <p:sp>
        <p:nvSpPr>
          <p:cNvPr id="16" name="Text 12"/>
          <p:cNvSpPr/>
          <p:nvPr/>
        </p:nvSpPr>
        <p:spPr>
          <a:xfrm>
            <a:off x="1074420" y="4983480"/>
            <a:ext cx="9966960" cy="502920"/>
          </a:xfrm>
          <a:prstGeom prst="roundRect">
            <a:avLst/>
          </a:prstGeom>
          <a:solidFill>
            <a:srgbClr val="083A2F"/>
          </a:solidFill>
          <a:ln>
            <a:solidFill>
              <a:srgbClr val="083A2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不要只看“异常结果”，要回到对应字段，判断规则、范围和业务实际是否一致。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84048"/>
            <a:ext cx="10515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3A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质检频率：学校月度闭环，集团季度复核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097280" y="841248"/>
            <a:ext cx="9966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学校先发现并处理异常，季度末确保集团看板与审计口径无异常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2103120" y="3246120"/>
            <a:ext cx="1600200" cy="0"/>
          </a:xfrm>
          <a:prstGeom prst="line">
            <a:avLst/>
          </a:prstGeom>
          <a:noFill/>
          <a:ln w="29210">
            <a:solidFill>
              <a:srgbClr val="006B52"/>
            </a:solidFill>
            <a:prstDash val="solid"/>
            <a:headEnd type="none"/>
            <a:tailEnd type="triangle"/>
          </a:ln>
        </p:spPr>
      </p:sp>
      <p:sp>
        <p:nvSpPr>
          <p:cNvPr id="6" name="Shape 3"/>
          <p:cNvSpPr/>
          <p:nvPr/>
        </p:nvSpPr>
        <p:spPr>
          <a:xfrm>
            <a:off x="5120640" y="3246120"/>
            <a:ext cx="1600200" cy="0"/>
          </a:xfrm>
          <a:prstGeom prst="line">
            <a:avLst/>
          </a:prstGeom>
          <a:noFill/>
          <a:ln w="29210">
            <a:solidFill>
              <a:srgbClr val="006B52"/>
            </a:solidFill>
            <a:prstDash val="solid"/>
            <a:headEnd type="none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8138160" y="3246120"/>
            <a:ext cx="1600200" cy="0"/>
          </a:xfrm>
          <a:prstGeom prst="line">
            <a:avLst/>
          </a:prstGeom>
          <a:noFill/>
          <a:ln w="29210">
            <a:solidFill>
              <a:srgbClr val="006B52"/>
            </a:solidFill>
            <a:prstDash val="solid"/>
            <a:headEnd type="none"/>
            <a:tailEnd type="triangle"/>
          </a:ln>
        </p:spPr>
      </p:sp>
      <p:sp>
        <p:nvSpPr>
          <p:cNvPr id="8" name="Text 5"/>
          <p:cNvSpPr/>
          <p:nvPr/>
        </p:nvSpPr>
        <p:spPr>
          <a:xfrm>
            <a:off x="731520" y="2240280"/>
            <a:ext cx="1783080" cy="365760"/>
          </a:xfrm>
          <a:prstGeom prst="roundRect">
            <a:avLst/>
          </a:prstGeom>
          <a:solidFill>
            <a:srgbClr val="006B52"/>
          </a:solidFill>
          <a:ln>
            <a:solidFill>
              <a:srgbClr val="006B52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月末最后一天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31520" y="2660904"/>
            <a:ext cx="1783080" cy="15453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学校检查一次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发出异常数据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教务当天修改</a:t>
            </a:r>
            <a:endParaRPr lang="en-US" sz="1380" dirty="0"/>
          </a:p>
        </p:txBody>
      </p:sp>
      <p:sp>
        <p:nvSpPr>
          <p:cNvPr id="10" name="Text 7"/>
          <p:cNvSpPr/>
          <p:nvPr/>
        </p:nvSpPr>
        <p:spPr>
          <a:xfrm>
            <a:off x="3703320" y="2240280"/>
            <a:ext cx="1783080" cy="365760"/>
          </a:xfrm>
          <a:prstGeom prst="roundRect">
            <a:avLst/>
          </a:prstGeom>
          <a:solidFill>
            <a:srgbClr val="006B52"/>
          </a:solidFill>
          <a:ln>
            <a:solidFill>
              <a:srgbClr val="006B52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次月第一天上午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3703320" y="2660904"/>
            <a:ext cx="1783080" cy="15453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锁课表前复检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确认异常是否修改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仍异常进入绩效口径</a:t>
            </a:r>
            <a:endParaRPr lang="en-US" sz="138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720840" y="2240280"/>
            <a:ext cx="1783080" cy="365760"/>
          </a:xfrm>
          <a:prstGeom prst="roundRect">
            <a:avLst/>
          </a:prstGeom>
          <a:solidFill>
            <a:srgbClr val="006B52"/>
          </a:solidFill>
          <a:ln>
            <a:solidFill>
              <a:srgbClr val="006B52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季度末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720840" y="2660904"/>
            <a:ext cx="1783080" cy="15453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集团看板检查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对季度异常进行复核</a:t>
            </a:r>
            <a:endParaRPr lang="en-US" sz="1380" dirty="0"/>
          </a:p>
          <a:p>
            <a:pPr marL="0" indent="0" algn="ctr">
              <a:buNone/>
            </a:pPr>
            <a:r>
              <a:rPr lang="zh-CN" altLang="en-US" sz="138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申诉理由统一</a:t>
            </a:r>
            <a:r>
              <a:rPr lang="zh-CN" altLang="en-US" sz="138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提交</a:t>
            </a:r>
            <a:endParaRPr lang="zh-CN" altLang="en-US" sz="1380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692640" y="2240280"/>
            <a:ext cx="1783080" cy="365760"/>
          </a:xfrm>
          <a:prstGeom prst="roundRect">
            <a:avLst/>
          </a:prstGeom>
          <a:solidFill>
            <a:srgbClr val="F6B800"/>
          </a:solidFill>
          <a:ln>
            <a:solidFill>
              <a:srgbClr val="F6B800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最终目标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9692640" y="2660904"/>
            <a:ext cx="1783080" cy="15453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集团质检看板无异常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审计检查无异常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数据维护有依据</a:t>
            </a:r>
            <a:endParaRPr lang="en-US" sz="1380" dirty="0"/>
          </a:p>
        </p:txBody>
      </p:sp>
      <p:sp>
        <p:nvSpPr>
          <p:cNvPr id="16" name="Text 13"/>
          <p:cNvSpPr/>
          <p:nvPr/>
        </p:nvSpPr>
        <p:spPr>
          <a:xfrm>
            <a:off x="1005840" y="4892040"/>
            <a:ext cx="10241280" cy="457200"/>
          </a:xfrm>
          <a:prstGeom prst="roundRect">
            <a:avLst/>
          </a:prstGeom>
          <a:solidFill>
            <a:srgbClr val="083A2F"/>
          </a:solidFill>
          <a:ln>
            <a:solidFill>
              <a:srgbClr val="083A2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节奏提醒：学校每月先闭环，集团季度末再检查；不要等季度末集中处理。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2395728"/>
            <a:ext cx="15544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dirty="0">
                <a:solidFill>
                  <a:srgbClr val="F6B8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5800" dirty="0"/>
          </a:p>
        </p:txBody>
      </p:sp>
      <p:sp>
        <p:nvSpPr>
          <p:cNvPr id="4" name="Text 1"/>
          <p:cNvSpPr/>
          <p:nvPr/>
        </p:nvSpPr>
        <p:spPr>
          <a:xfrm>
            <a:off x="749808" y="3456432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第三章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58952" y="4096512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质检异常处理与申诉流程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58952" y="4690872"/>
            <a:ext cx="10789920" cy="0"/>
          </a:xfrm>
          <a:prstGeom prst="line">
            <a:avLst/>
          </a:prstGeom>
          <a:noFill/>
          <a:ln w="1016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" y="4919472"/>
            <a:ext cx="557784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异常先修改；如果质检结果与实际情况不一致，再按申诉流程说明原因并提供材料。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84048"/>
            <a:ext cx="10515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3A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质检异常处理流程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097280" y="841248"/>
            <a:ext cx="9966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从异常下发到复检关闭，形成完整闭环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2377440" y="2834640"/>
            <a:ext cx="685800" cy="0"/>
          </a:xfrm>
          <a:prstGeom prst="line">
            <a:avLst/>
          </a:prstGeom>
          <a:noFill/>
          <a:ln w="25400">
            <a:solidFill>
              <a:srgbClr val="006B52"/>
            </a:solidFill>
            <a:prstDash val="solid"/>
            <a:headEnd type="none"/>
            <a:tailEnd type="triangle"/>
          </a:ln>
        </p:spPr>
      </p:sp>
      <p:sp>
        <p:nvSpPr>
          <p:cNvPr id="6" name="Shape 3"/>
          <p:cNvSpPr/>
          <p:nvPr/>
        </p:nvSpPr>
        <p:spPr>
          <a:xfrm>
            <a:off x="4480560" y="2834640"/>
            <a:ext cx="685800" cy="0"/>
          </a:xfrm>
          <a:prstGeom prst="line">
            <a:avLst/>
          </a:prstGeom>
          <a:noFill/>
          <a:ln w="25400">
            <a:solidFill>
              <a:srgbClr val="006B52"/>
            </a:solidFill>
            <a:prstDash val="solid"/>
            <a:headEnd type="none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6583680" y="2834640"/>
            <a:ext cx="685800" cy="0"/>
          </a:xfrm>
          <a:prstGeom prst="line">
            <a:avLst/>
          </a:prstGeom>
          <a:noFill/>
          <a:ln w="25400">
            <a:solidFill>
              <a:srgbClr val="006B52"/>
            </a:solidFill>
            <a:prstDash val="solid"/>
            <a:headEnd type="none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8686800" y="2834640"/>
            <a:ext cx="685800" cy="0"/>
          </a:xfrm>
          <a:prstGeom prst="line">
            <a:avLst/>
          </a:prstGeom>
          <a:noFill/>
          <a:ln w="25400">
            <a:solidFill>
              <a:srgbClr val="006B52"/>
            </a:solidFill>
            <a:prstDash val="solid"/>
            <a:headEnd type="none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914400" y="2029968"/>
            <a:ext cx="1481328" cy="365760"/>
          </a:xfrm>
          <a:prstGeom prst="roundRect">
            <a:avLst/>
          </a:prstGeom>
          <a:solidFill>
            <a:srgbClr val="006B52"/>
          </a:solidFill>
          <a:ln>
            <a:solidFill>
              <a:srgbClr val="006B52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接收异常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14400" y="2450592"/>
            <a:ext cx="1481328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查看异常明细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定位班级/课表/字段</a:t>
            </a:r>
            <a:endParaRPr lang="en-US" sz="1380" dirty="0"/>
          </a:p>
        </p:txBody>
      </p:sp>
      <p:sp>
        <p:nvSpPr>
          <p:cNvPr id="11" name="Text 8"/>
          <p:cNvSpPr/>
          <p:nvPr/>
        </p:nvSpPr>
        <p:spPr>
          <a:xfrm>
            <a:off x="3017520" y="2029968"/>
            <a:ext cx="1481328" cy="365760"/>
          </a:xfrm>
          <a:prstGeom prst="roundRect">
            <a:avLst/>
          </a:prstGeom>
          <a:solidFill>
            <a:srgbClr val="006B52"/>
          </a:solidFill>
          <a:ln>
            <a:solidFill>
              <a:srgbClr val="006B52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核对规则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3017520" y="2450592"/>
            <a:ext cx="1481328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核对质检标准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判断是否命中范围</a:t>
            </a:r>
            <a:endParaRPr lang="en-US" sz="1380" dirty="0"/>
          </a:p>
        </p:txBody>
      </p:sp>
      <p:sp>
        <p:nvSpPr>
          <p:cNvPr id="13" name="Text 10"/>
          <p:cNvSpPr/>
          <p:nvPr/>
        </p:nvSpPr>
        <p:spPr>
          <a:xfrm>
            <a:off x="5120640" y="2029968"/>
            <a:ext cx="1481328" cy="365760"/>
          </a:xfrm>
          <a:prstGeom prst="roundRect">
            <a:avLst/>
          </a:prstGeom>
          <a:solidFill>
            <a:srgbClr val="006B52"/>
          </a:solidFill>
          <a:ln>
            <a:solidFill>
              <a:srgbClr val="006B52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系统修改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5120640" y="2450592"/>
            <a:ext cx="1481328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回系统修改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保留必要说明</a:t>
            </a:r>
            <a:endParaRPr lang="en-US" sz="1380" dirty="0"/>
          </a:p>
        </p:txBody>
      </p:sp>
      <p:sp>
        <p:nvSpPr>
          <p:cNvPr id="15" name="Text 12"/>
          <p:cNvSpPr/>
          <p:nvPr/>
        </p:nvSpPr>
        <p:spPr>
          <a:xfrm>
            <a:off x="7223760" y="2029968"/>
            <a:ext cx="1481328" cy="365760"/>
          </a:xfrm>
          <a:prstGeom prst="roundRect">
            <a:avLst/>
          </a:prstGeom>
          <a:solidFill>
            <a:srgbClr val="006B52"/>
          </a:solidFill>
          <a:ln>
            <a:solidFill>
              <a:srgbClr val="006B52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复检确认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223760" y="2450592"/>
            <a:ext cx="1481328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次日上午检查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确认是否仍异常</a:t>
            </a:r>
            <a:endParaRPr lang="en-US" sz="1380" dirty="0"/>
          </a:p>
        </p:txBody>
      </p:sp>
      <p:sp>
        <p:nvSpPr>
          <p:cNvPr id="17" name="Text 14"/>
          <p:cNvSpPr/>
          <p:nvPr/>
        </p:nvSpPr>
        <p:spPr>
          <a:xfrm>
            <a:off x="9326880" y="2029968"/>
            <a:ext cx="1481328" cy="365760"/>
          </a:xfrm>
          <a:prstGeom prst="roundRect">
            <a:avLst/>
          </a:prstGeom>
          <a:solidFill>
            <a:srgbClr val="F6B800"/>
          </a:solidFill>
          <a:ln>
            <a:solidFill>
              <a:srgbClr val="F6B800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关闭/申诉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9326880" y="2450592"/>
            <a:ext cx="1481328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已修改则关闭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有差异则申诉</a:t>
            </a:r>
            <a:endParaRPr lang="en-US" sz="1380" dirty="0"/>
          </a:p>
        </p:txBody>
      </p:sp>
      <p:sp>
        <p:nvSpPr>
          <p:cNvPr id="19" name="Text 16"/>
          <p:cNvSpPr/>
          <p:nvPr/>
        </p:nvSpPr>
        <p:spPr>
          <a:xfrm>
            <a:off x="1143000" y="4434840"/>
            <a:ext cx="2468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6B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什么情况下需要申诉？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143000" y="4864608"/>
            <a:ext cx="10515600" cy="8412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学校月度质检已完成处理，</a:t>
            </a:r>
            <a:r>
              <a:rPr lang="zh-CN" altLang="en-US" sz="162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但</a:t>
            </a:r>
            <a:r>
              <a:rPr lang="en-US" sz="162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集团看板仍显示异常——</a:t>
            </a:r>
            <a:r>
              <a:rPr lang="zh-CN" altLang="en-US" sz="162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走集团链接申诉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学校月度质检结果与实际业务情况不一致——</a:t>
            </a:r>
            <a:r>
              <a:rPr lang="zh-CN" altLang="en-US" sz="162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联系质检负责</a:t>
            </a:r>
            <a:r>
              <a:rPr lang="zh-CN" altLang="en-US" sz="162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人申诉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存在特殊业务场景，需要用材料说明合理性。</a:t>
            </a:r>
            <a:endParaRPr lang="en-US" altLang="zh-CN" sz="1620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84048"/>
            <a:ext cx="10515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3A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异常申诉流程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097280" y="841248"/>
            <a:ext cx="9966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申诉不是替代修改，而是用于处理“质检结果与实际不一致”的情况</a:t>
            </a:r>
            <a:endParaRPr lang="en-US" sz="1250" dirty="0"/>
          </a:p>
        </p:txBody>
      </p:sp>
      <p:sp>
        <p:nvSpPr>
          <p:cNvPr id="5" name="Text 2"/>
          <p:cNvSpPr/>
          <p:nvPr>
            <p:custDataLst>
              <p:tags r:id="rId2"/>
            </p:custDataLst>
          </p:nvPr>
        </p:nvSpPr>
        <p:spPr>
          <a:xfrm>
            <a:off x="6823710" y="1426337"/>
            <a:ext cx="4572000" cy="411480"/>
          </a:xfrm>
          <a:prstGeom prst="roundRect">
            <a:avLst/>
          </a:prstGeom>
          <a:solidFill>
            <a:srgbClr val="006B52"/>
          </a:solidFill>
          <a:ln>
            <a:solidFill>
              <a:srgbClr val="006B52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集团看板申诉</a:t>
            </a:r>
            <a:endParaRPr lang="en-US" sz="2100" dirty="0"/>
          </a:p>
        </p:txBody>
      </p:sp>
      <p:sp>
        <p:nvSpPr>
          <p:cNvPr id="6" name="Text 3"/>
          <p:cNvSpPr/>
          <p:nvPr>
            <p:custDataLst>
              <p:tags r:id="rId3"/>
            </p:custDataLst>
          </p:nvPr>
        </p:nvSpPr>
        <p:spPr>
          <a:xfrm>
            <a:off x="822960" y="1426337"/>
            <a:ext cx="4572000" cy="411480"/>
          </a:xfrm>
          <a:prstGeom prst="roundRect">
            <a:avLst/>
          </a:prstGeom>
          <a:solidFill>
            <a:srgbClr val="F6B800"/>
          </a:solidFill>
          <a:ln>
            <a:solidFill>
              <a:srgbClr val="F6B800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83A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学校月检申诉</a:t>
            </a:r>
            <a:endParaRPr lang="en-US" sz="2100" dirty="0"/>
          </a:p>
        </p:txBody>
      </p:sp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6915150" y="2130425"/>
            <a:ext cx="4389120" cy="411480"/>
          </a:xfrm>
          <a:prstGeom prst="rect">
            <a:avLst/>
          </a:prstGeom>
          <a:noFill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B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适用场景</a:t>
            </a:r>
            <a:endParaRPr lang="en-US" sz="1800" dirty="0"/>
          </a:p>
        </p:txBody>
      </p:sp>
      <p:sp>
        <p:nvSpPr>
          <p:cNvPr id="8" name="Shape 5"/>
          <p:cNvSpPr/>
          <p:nvPr>
            <p:custDataLst>
              <p:tags r:id="rId5"/>
            </p:custDataLst>
          </p:nvPr>
        </p:nvSpPr>
        <p:spPr>
          <a:xfrm>
            <a:off x="6915150" y="2569337"/>
            <a:ext cx="4389120" cy="0"/>
          </a:xfrm>
          <a:prstGeom prst="line">
            <a:avLst/>
          </a:prstGeom>
          <a:noFill/>
          <a:ln w="15240">
            <a:solidFill>
              <a:srgbClr val="006B52"/>
            </a:solidFill>
            <a:prstDash val="solid"/>
          </a:ln>
        </p:spPr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6915150" y="2697353"/>
            <a:ext cx="4389120" cy="1536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学校每月检查已处理完毕，但集团质检看板仍显示异常。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处理方式：</a:t>
            </a:r>
            <a:r>
              <a:rPr lang="zh-CN" altLang="en-US" sz="155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准备好</a:t>
            </a:r>
            <a:r>
              <a:rPr lang="zh-CN" altLang="en-US" sz="15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申诉材料</a:t>
            </a:r>
            <a:r>
              <a:rPr lang="en-US" altLang="zh-CN" sz="155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zh-CN" altLang="en-US" sz="155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在集团质检节点前发送给</a:t>
            </a:r>
            <a:r>
              <a:rPr lang="zh-CN" altLang="en-US" sz="15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学校质检侧</a:t>
            </a:r>
            <a:r>
              <a:rPr lang="en-US" altLang="zh-CN" sz="155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zh-CN" altLang="en-US" sz="155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我统一提交申诉材料至</a:t>
            </a:r>
            <a:r>
              <a:rPr lang="en-US" sz="155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集团。</a:t>
            </a:r>
            <a:endParaRPr lang="en-US" sz="1550" dirty="0"/>
          </a:p>
        </p:txBody>
      </p:sp>
      <p:sp>
        <p:nvSpPr>
          <p:cNvPr id="10" name="Text 7"/>
          <p:cNvSpPr/>
          <p:nvPr>
            <p:custDataLst>
              <p:tags r:id="rId7"/>
            </p:custDataLst>
          </p:nvPr>
        </p:nvSpPr>
        <p:spPr>
          <a:xfrm>
            <a:off x="914400" y="2130425"/>
            <a:ext cx="4389120" cy="411480"/>
          </a:xfrm>
          <a:prstGeom prst="rect">
            <a:avLst/>
          </a:prstGeom>
          <a:noFill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B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适用场景</a:t>
            </a:r>
            <a:endParaRPr lang="en-US" sz="1800" dirty="0"/>
          </a:p>
        </p:txBody>
      </p:sp>
      <p:sp>
        <p:nvSpPr>
          <p:cNvPr id="11" name="Shape 8"/>
          <p:cNvSpPr/>
          <p:nvPr>
            <p:custDataLst>
              <p:tags r:id="rId8"/>
            </p:custDataLst>
          </p:nvPr>
        </p:nvSpPr>
        <p:spPr>
          <a:xfrm>
            <a:off x="914400" y="2569337"/>
            <a:ext cx="4389120" cy="0"/>
          </a:xfrm>
          <a:prstGeom prst="line">
            <a:avLst/>
          </a:prstGeom>
          <a:noFill/>
          <a:ln w="15240">
            <a:solidFill>
              <a:srgbClr val="F6B800"/>
            </a:solidFill>
            <a:prstDash val="solid"/>
          </a:ln>
        </p:spPr>
      </p:sp>
      <p:sp>
        <p:nvSpPr>
          <p:cNvPr id="12" name="Text 9"/>
          <p:cNvSpPr/>
          <p:nvPr>
            <p:custDataLst>
              <p:tags r:id="rId9"/>
            </p:custDataLst>
          </p:nvPr>
        </p:nvSpPr>
        <p:spPr>
          <a:xfrm>
            <a:off x="914400" y="2697353"/>
            <a:ext cx="4389120" cy="1536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学校每月质检结果与实际业务情况不一致，或规则命中存在特殊原因。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处理方式：联系</a:t>
            </a:r>
            <a:r>
              <a:rPr lang="zh-CN" altLang="en-US" sz="15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学校质检侧</a:t>
            </a:r>
            <a:r>
              <a:rPr lang="en-US" sz="155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核对并发起申诉。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914400" y="489204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B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建议申诉材料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154680" y="4837176"/>
            <a:ext cx="8092440" cy="5943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异常数据明细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实际业务说明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系统截图或佐证材料（</a:t>
            </a:r>
            <a:r>
              <a:rPr lang="zh-CN" altLang="en-US" sz="15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邮件、集团通知等</a:t>
            </a:r>
            <a:r>
              <a:rPr lang="en-US" altLang="zh-CN" sz="15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已修改或无法修改的原因</a:t>
            </a:r>
            <a:endParaRPr lang="en-US" sz="1500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2395728"/>
            <a:ext cx="15544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dirty="0">
                <a:solidFill>
                  <a:srgbClr val="F6B8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5800" dirty="0"/>
          </a:p>
        </p:txBody>
      </p:sp>
      <p:sp>
        <p:nvSpPr>
          <p:cNvPr id="4" name="Text 1"/>
          <p:cNvSpPr/>
          <p:nvPr/>
        </p:nvSpPr>
        <p:spPr>
          <a:xfrm>
            <a:off x="749808" y="3456432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第四章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58952" y="4096512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绩效考核关联与执行要求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58952" y="4690872"/>
            <a:ext cx="10789920" cy="0"/>
          </a:xfrm>
          <a:prstGeom prst="line">
            <a:avLst/>
          </a:prstGeom>
          <a:noFill/>
          <a:ln w="1016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" y="4919472"/>
            <a:ext cx="557784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月末发异常，次日上午复检；复检仍未修改的异常，计入绩效考核扣分。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05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84048"/>
            <a:ext cx="10515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3A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绩效考核关联：以次日上午复检为口径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097280" y="841248"/>
            <a:ext cx="9966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月末异常下发后，第二天上午仍未修改的异常计入绩效扣分</a:t>
            </a:r>
            <a:endParaRPr lang="en-US" sz="1250" dirty="0"/>
          </a:p>
        </p:txBody>
      </p:sp>
      <p:sp>
        <p:nvSpPr>
          <p:cNvPr id="14" name="TextBox 6"/>
          <p:cNvSpPr txBox="1"/>
          <p:nvPr/>
        </p:nvSpPr>
        <p:spPr>
          <a:xfrm>
            <a:off x="777240" y="133096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5F6970"/>
                </a:solidFill>
                <a:latin typeface="微软雅黑"/>
              </a:rPr>
              <a:t>依据：《课程服务部工作操作合规性与规范性质检清单（2025财年版）》</a:t>
            </a:r>
            <a:endParaRPr sz="1350" b="0">
              <a:solidFill>
                <a:srgbClr val="5F6970"/>
              </a:solidFill>
              <a:latin typeface="微软雅黑"/>
            </a:endParaRPr>
          </a:p>
        </p:txBody>
      </p:sp>
      <p:sp>
        <p:nvSpPr>
          <p:cNvPr id="15" name="Rounded Rectangle 7"/>
          <p:cNvSpPr/>
          <p:nvPr/>
        </p:nvSpPr>
        <p:spPr>
          <a:xfrm>
            <a:off x="731520" y="1833880"/>
            <a:ext cx="3108960" cy="1435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8"/>
          <p:cNvSpPr/>
          <p:nvPr/>
        </p:nvSpPr>
        <p:spPr>
          <a:xfrm>
            <a:off x="731520" y="1833880"/>
            <a:ext cx="76200" cy="1435100"/>
          </a:xfrm>
          <a:prstGeom prst="rect">
            <a:avLst/>
          </a:prstGeom>
          <a:solidFill>
            <a:srgbClr val="12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9"/>
          <p:cNvSpPr txBox="1"/>
          <p:nvPr/>
        </p:nvSpPr>
        <p:spPr>
          <a:xfrm>
            <a:off x="914400" y="197104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2374B"/>
                </a:solidFill>
                <a:latin typeface="微软雅黑"/>
              </a:rPr>
              <a:t>基础分</a:t>
            </a:r>
            <a:endParaRPr sz="2000" b="1">
              <a:solidFill>
                <a:srgbClr val="12374B"/>
              </a:solidFill>
              <a:latin typeface="微软雅黑"/>
            </a:endParaRPr>
          </a:p>
        </p:txBody>
      </p:sp>
      <p:sp>
        <p:nvSpPr>
          <p:cNvPr id="18" name="TextBox 10"/>
          <p:cNvSpPr txBox="1"/>
          <p:nvPr/>
        </p:nvSpPr>
        <p:spPr>
          <a:xfrm>
            <a:off x="914400" y="2400808"/>
            <a:ext cx="2788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937"/>
                </a:solidFill>
                <a:latin typeface="微软雅黑"/>
              </a:rPr>
              <a:t>倒减法计分，满分 10 分
根据学校检查情况扣分</a:t>
            </a:r>
            <a:endParaRPr sz="1500" b="0">
              <a:solidFill>
                <a:srgbClr val="1F2937"/>
              </a:solidFill>
              <a:latin typeface="微软雅黑"/>
            </a:endParaRPr>
          </a:p>
        </p:txBody>
      </p:sp>
      <p:sp>
        <p:nvSpPr>
          <p:cNvPr id="19" name="Rounded Rectangle 11"/>
          <p:cNvSpPr/>
          <p:nvPr/>
        </p:nvSpPr>
        <p:spPr>
          <a:xfrm>
            <a:off x="4251960" y="1833880"/>
            <a:ext cx="3108960" cy="1435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2"/>
          <p:cNvSpPr/>
          <p:nvPr/>
        </p:nvSpPr>
        <p:spPr>
          <a:xfrm>
            <a:off x="4251960" y="1833880"/>
            <a:ext cx="73152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13"/>
          <p:cNvSpPr txBox="1"/>
          <p:nvPr/>
        </p:nvSpPr>
        <p:spPr>
          <a:xfrm>
            <a:off x="4434840" y="197104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2374B"/>
                </a:solidFill>
                <a:latin typeface="微软雅黑"/>
              </a:rPr>
              <a:t>扣分规则</a:t>
            </a:r>
            <a:endParaRPr sz="2000" b="1">
              <a:solidFill>
                <a:srgbClr val="12374B"/>
              </a:solidFill>
              <a:latin typeface="微软雅黑"/>
            </a:endParaRPr>
          </a:p>
        </p:txBody>
      </p:sp>
      <p:sp>
        <p:nvSpPr>
          <p:cNvPr id="22" name="TextBox 14"/>
          <p:cNvSpPr txBox="1"/>
          <p:nvPr/>
        </p:nvSpPr>
        <p:spPr>
          <a:xfrm>
            <a:off x="4434840" y="2400808"/>
            <a:ext cx="2788920" cy="8528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937"/>
                </a:solidFill>
                <a:latin typeface="微软雅黑"/>
              </a:rPr>
              <a:t>班级查询：每条扣 1 分</a:t>
            </a:r>
            <a:endParaRPr sz="1500" b="0">
              <a:solidFill>
                <a:srgbClr val="1F2937"/>
              </a:solidFill>
              <a:latin typeface="微软雅黑"/>
            </a:endParaRP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937"/>
                </a:solidFill>
                <a:latin typeface="微软雅黑"/>
              </a:rPr>
              <a:t>配课表：每条扣 0.5 分
扣完基础分为止</a:t>
            </a:r>
            <a:endParaRPr sz="1500" b="0">
              <a:solidFill>
                <a:srgbClr val="1F2937"/>
              </a:solidFill>
              <a:latin typeface="微软雅黑"/>
            </a:endParaRPr>
          </a:p>
        </p:txBody>
      </p:sp>
      <p:sp>
        <p:nvSpPr>
          <p:cNvPr id="23" name="Rounded Rectangle 15"/>
          <p:cNvSpPr/>
          <p:nvPr/>
        </p:nvSpPr>
        <p:spPr>
          <a:xfrm>
            <a:off x="7772400" y="1833880"/>
            <a:ext cx="3108960" cy="14090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16"/>
          <p:cNvSpPr/>
          <p:nvPr/>
        </p:nvSpPr>
        <p:spPr>
          <a:xfrm>
            <a:off x="7772400" y="1833880"/>
            <a:ext cx="73152" cy="13716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17"/>
          <p:cNvSpPr txBox="1"/>
          <p:nvPr/>
        </p:nvSpPr>
        <p:spPr>
          <a:xfrm>
            <a:off x="7955279" y="197104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2374B"/>
                </a:solidFill>
                <a:latin typeface="微软雅黑"/>
              </a:rPr>
              <a:t>加分规则</a:t>
            </a:r>
            <a:endParaRPr sz="2000" b="1">
              <a:solidFill>
                <a:srgbClr val="12374B"/>
              </a:solidFill>
              <a:latin typeface="微软雅黑"/>
            </a:endParaRPr>
          </a:p>
        </p:txBody>
      </p:sp>
      <p:sp>
        <p:nvSpPr>
          <p:cNvPr id="26" name="TextBox 18"/>
          <p:cNvSpPr txBox="1"/>
          <p:nvPr/>
        </p:nvSpPr>
        <p:spPr>
          <a:xfrm>
            <a:off x="7955279" y="2400808"/>
            <a:ext cx="2788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937"/>
                </a:solidFill>
                <a:latin typeface="微软雅黑"/>
              </a:rPr>
              <a:t>考核周期内每完整季度无合规问题 +1 分
封顶 = 季度数（年度 4 分）</a:t>
            </a:r>
            <a:endParaRPr sz="1400" b="0">
              <a:solidFill>
                <a:srgbClr val="1F2937"/>
              </a:solidFill>
              <a:latin typeface="微软雅黑"/>
            </a:endParaRPr>
          </a:p>
        </p:txBody>
      </p:sp>
      <p:graphicFrame>
        <p:nvGraphicFramePr>
          <p:cNvPr id="27" name="Table 19"/>
          <p:cNvGraphicFramePr>
            <a:graphicFrameLocks noGrp="1"/>
          </p:cNvGraphicFramePr>
          <p:nvPr/>
        </p:nvGraphicFramePr>
        <p:xfrm>
          <a:off x="914400" y="3662680"/>
          <a:ext cx="978408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1360"/>
                <a:gridCol w="3261360"/>
                <a:gridCol w="3261360"/>
              </a:tblGrid>
              <a:tr h="297180">
                <a:tc>
                  <a:txBody>
                    <a:bodyPr/>
                    <a:lstStyle/>
                    <a:p>
                      <a:pPr algn="ctr">
                        <a:defRPr sz="118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b="1"/>
                        <a:t>时间点</a:t>
                      </a:r>
                      <a:endParaRPr b="1"/>
                    </a:p>
                  </a:txBody>
                  <a:tcPr marL="36576" marR="36576" marT="27432" marB="27432">
                    <a:solidFill>
                      <a:srgbClr val="1237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lang="zh-CN" b="1"/>
                        <a:t>质检</a:t>
                      </a:r>
                      <a:r>
                        <a:rPr b="1"/>
                        <a:t>动作</a:t>
                      </a:r>
                      <a:endParaRPr b="1"/>
                    </a:p>
                  </a:txBody>
                  <a:tcPr marL="36576" marR="36576" marT="27432" marB="27432">
                    <a:solidFill>
                      <a:srgbClr val="1237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lang="zh-CN" b="1"/>
                        <a:t>动作</a:t>
                      </a:r>
                      <a:endParaRPr lang="zh-CN" b="1"/>
                    </a:p>
                  </a:txBody>
                  <a:tcPr marL="36576" marR="36576" marT="27432" marB="27432">
                    <a:solidFill>
                      <a:srgbClr val="12374B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180" b="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b="1"/>
                        <a:t>月底最后一天</a:t>
                      </a:r>
                      <a:endParaRPr b="1"/>
                    </a:p>
                  </a:txBody>
                  <a:tcPr marL="36576" marR="36576" marT="27432" marB="27432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b="1"/>
                        <a:t>下发异常数据</a:t>
                      </a:r>
                      <a:endParaRPr b="1"/>
                    </a:p>
                  </a:txBody>
                  <a:tcPr marL="36576" marR="36576" marT="27432" marB="27432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b="1"/>
                        <a:t>教务当天处理</a:t>
                      </a:r>
                      <a:endParaRPr b="1"/>
                    </a:p>
                  </a:txBody>
                  <a:tcPr marL="36576" marR="36576" marT="27432" marB="27432">
                    <a:solidFill>
                      <a:srgbClr val="F2F8FA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180" b="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b="1"/>
                        <a:t>次月第一天上午</a:t>
                      </a:r>
                      <a:endParaRPr b="1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b="1"/>
                        <a:t>锁课表前复检</a:t>
                      </a:r>
                      <a:endParaRPr b="1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b="1"/>
                        <a:t>仍未修改的异常进入扣分</a:t>
                      </a:r>
                      <a:endParaRPr b="1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180" b="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b="1"/>
                        <a:t>集团看板仍异常 / 业务实际不一致</a:t>
                      </a:r>
                      <a:endParaRPr b="1"/>
                    </a:p>
                  </a:txBody>
                  <a:tcPr marL="36576" marR="36576" marT="27432" marB="27432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b="1"/>
                        <a:t>提交材料申诉</a:t>
                      </a:r>
                      <a:endParaRPr b="1"/>
                    </a:p>
                  </a:txBody>
                  <a:tcPr marL="36576" marR="36576" marT="27432" marB="27432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b="1"/>
                        <a:t>避免口径固化后再补说明</a:t>
                      </a:r>
                      <a:endParaRPr b="1"/>
                    </a:p>
                  </a:txBody>
                  <a:tcPr marL="36576" marR="36576" marT="27432" marB="27432">
                    <a:solidFill>
                      <a:srgbClr val="F2F8FA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0"/>
          <p:cNvSpPr txBox="1"/>
          <p:nvPr/>
        </p:nvSpPr>
        <p:spPr>
          <a:xfrm>
            <a:off x="822960" y="5244592"/>
            <a:ext cx="10058400" cy="5708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420" b="1">
                <a:solidFill>
                  <a:srgbClr val="FF0000"/>
                </a:solidFill>
                <a:latin typeface="微软雅黑"/>
              </a:rPr>
              <a:t>1. </a:t>
            </a:r>
            <a:r>
              <a:rPr sz="1420" b="1">
                <a:solidFill>
                  <a:srgbClr val="FF0000"/>
                </a:solidFill>
                <a:latin typeface="微软雅黑"/>
              </a:rPr>
              <a:t>绩效不是看“月末下发多少条”，而是看“复检时还有多少条未修改且未合理申诉”。</a:t>
            </a:r>
            <a:endParaRPr sz="1420" b="1">
              <a:solidFill>
                <a:srgbClr val="FF0000"/>
              </a:solidFill>
              <a:latin typeface="微软雅黑"/>
            </a:endParaRPr>
          </a:p>
          <a:p>
            <a:pPr algn="ctr">
              <a:lnSpc>
                <a:spcPct val="110000"/>
              </a:lnSpc>
            </a:pPr>
            <a:r>
              <a:rPr lang="en-US" sz="142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2. 已处理但看板仍异常，或质检结果与实际不一致，需要及时走申诉，不要等绩效口径固化后再说明</a:t>
            </a:r>
            <a:endParaRPr lang="en-US" sz="142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2395728"/>
            <a:ext cx="15544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dirty="0">
                <a:solidFill>
                  <a:srgbClr val="F6B8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5800" dirty="0"/>
          </a:p>
        </p:txBody>
      </p:sp>
      <p:sp>
        <p:nvSpPr>
          <p:cNvPr id="4" name="Text 1"/>
          <p:cNvSpPr/>
          <p:nvPr/>
        </p:nvSpPr>
        <p:spPr>
          <a:xfrm>
            <a:off x="749808" y="3456432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</a:t>
            </a:r>
            <a:r>
              <a:rPr lang="zh-CN" alt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</a:t>
            </a: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58952" y="4096512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自查自检工具</a:t>
            </a: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&amp;</a:t>
            </a:r>
            <a:r>
              <a: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58952" y="4690872"/>
            <a:ext cx="10789920" cy="0"/>
          </a:xfrm>
          <a:prstGeom prst="line">
            <a:avLst/>
          </a:prstGeom>
          <a:noFill/>
          <a:ln w="1016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" y="4919472"/>
            <a:ext cx="557784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月末发异常，次日上午复检；复检仍未修改的异常，计入绩效考核扣分。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792" y="384048"/>
            <a:ext cx="10241280" cy="411480"/>
          </a:xfrm>
          <a:prstGeom prst="rect">
            <a:avLst/>
          </a:prstGeom>
          <a:noFill/>
        </p:spPr>
        <p:txBody>
          <a:bodyPr wrap="square" lIns="90000" tIns="50000" rIns="90000" bIns="50000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006955"/>
                </a:solidFill>
                <a:latin typeface="微软雅黑" panose="020B0503020204020204" pitchFamily="34" charset="-122"/>
              </a:defRPr>
            </a:pPr>
            <a:r>
              <a:t>自查自检工具&amp;方法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9875520" cy="256032"/>
          </a:xfrm>
          <a:prstGeom prst="rect">
            <a:avLst/>
          </a:prstGeom>
          <a:noFill/>
        </p:spPr>
        <p:txBody>
          <a:bodyPr wrap="square" lIns="90000" tIns="50000" rIns="90000" bIns="50000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6E7876"/>
                </a:solidFill>
                <a:latin typeface="微软雅黑" panose="020B0503020204020204" pitchFamily="34" charset="-122"/>
              </a:defRPr>
            </a:pPr>
            <a:r>
              <a:t>用集团看板确认集团口径，用学校原始数据按质检规则完成月度自查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36259" y="1664208"/>
            <a:ext cx="4617720" cy="2880360"/>
          </a:xfrm>
          <a:prstGeom prst="roundRect">
            <a:avLst/>
          </a:prstGeom>
          <a:solidFill>
            <a:srgbClr val="F8FAF9"/>
          </a:solidFill>
          <a:ln w="12700"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2700" y="1664208"/>
            <a:ext cx="4617720" cy="2880360"/>
          </a:xfrm>
          <a:prstGeom prst="roundRect">
            <a:avLst/>
          </a:prstGeom>
          <a:solidFill>
            <a:srgbClr val="F8FAF9"/>
          </a:solidFill>
          <a:ln w="12700"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19139" y="1865376"/>
            <a:ext cx="1874519" cy="384048"/>
          </a:xfrm>
          <a:prstGeom prst="roundRect">
            <a:avLst/>
          </a:prstGeom>
          <a:solidFill>
            <a:srgbClr val="006955"/>
          </a:solidFill>
          <a:ln w="12700">
            <a:solidFill>
              <a:srgbClr val="006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0000" rIns="90000" bIns="50000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集团口径异常数据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5580" y="1865376"/>
            <a:ext cx="1874519" cy="384048"/>
          </a:xfrm>
          <a:prstGeom prst="roundRect">
            <a:avLst/>
          </a:prstGeom>
          <a:solidFill>
            <a:srgbClr val="F4B000"/>
          </a:solidFill>
          <a:ln w="12700">
            <a:solidFill>
              <a:srgbClr val="F4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0000" rIns="90000" bIns="50000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学校口径异常数据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74003" y="2487168"/>
            <a:ext cx="347472" cy="347472"/>
          </a:xfrm>
          <a:prstGeom prst="roundRect">
            <a:avLst/>
          </a:prstGeom>
          <a:solidFill>
            <a:srgbClr val="F4B000"/>
          </a:solidFill>
          <a:ln w="12700">
            <a:solidFill>
              <a:srgbClr val="F4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0000" rIns="90000" bIns="5000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9491" y="2536698"/>
            <a:ext cx="1188720" cy="228600"/>
          </a:xfrm>
          <a:prstGeom prst="rect">
            <a:avLst/>
          </a:prstGeom>
          <a:noFill/>
        </p:spPr>
        <p:txBody>
          <a:bodyPr wrap="square" lIns="90000" tIns="50000" rIns="90000" bIns="50000">
            <a:spAutoFit/>
          </a:bodyPr>
          <a:lstStyle/>
          <a:p>
            <a:pPr algn="l">
              <a:spcAft>
                <a:spcPts val="400"/>
              </a:spcAft>
              <a:defRPr sz="1250" b="1">
                <a:solidFill>
                  <a:srgbClr val="006955"/>
                </a:solidFill>
                <a:latin typeface="微软雅黑" panose="020B0503020204020204" pitchFamily="34" charset="-122"/>
              </a:defRPr>
            </a:pPr>
            <a:r>
              <a:t>查看工具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2490" y="2500122"/>
            <a:ext cx="2468880" cy="512064"/>
          </a:xfrm>
          <a:prstGeom prst="rect">
            <a:avLst/>
          </a:prstGeom>
          <a:noFill/>
        </p:spPr>
        <p:txBody>
          <a:bodyPr wrap="square" lIns="90000" tIns="50000" rIns="90000" bIns="50000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203732"/>
                </a:solidFill>
                <a:latin typeface="微软雅黑" panose="020B0503020204020204" pitchFamily="34" charset="-122"/>
              </a:defRPr>
            </a:pPr>
            <a:r>
              <a:t>集团质检看板直接查看异常数据，数据每日更新。</a:t>
            </a:r>
          </a:p>
        </p:txBody>
      </p:sp>
      <p:sp>
        <p:nvSpPr>
          <p:cNvPr id="13" name="Straight Connector 12"/>
          <p:cNvSpPr/>
          <p:nvPr/>
        </p:nvSpPr>
        <p:spPr>
          <a:xfrm>
            <a:off x="6776339" y="3081528"/>
            <a:ext cx="3657600" cy="0"/>
          </a:xfrm>
          <a:prstGeom prst="lineInv">
            <a:avLst/>
          </a:prstGeom>
          <a:ln w="12700"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74003" y="3172968"/>
            <a:ext cx="347472" cy="347472"/>
          </a:xfrm>
          <a:prstGeom prst="roundRect">
            <a:avLst/>
          </a:prstGeom>
          <a:solidFill>
            <a:srgbClr val="F4B000"/>
          </a:solidFill>
          <a:ln w="12700">
            <a:solidFill>
              <a:srgbClr val="F4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0000" rIns="90000" bIns="5000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9491" y="3222498"/>
            <a:ext cx="1188720" cy="228600"/>
          </a:xfrm>
          <a:prstGeom prst="rect">
            <a:avLst/>
          </a:prstGeom>
          <a:noFill/>
        </p:spPr>
        <p:txBody>
          <a:bodyPr wrap="square" lIns="90000" tIns="50000" rIns="90000" bIns="50000">
            <a:spAutoFit/>
          </a:bodyPr>
          <a:lstStyle/>
          <a:p>
            <a:pPr algn="l">
              <a:spcAft>
                <a:spcPts val="400"/>
              </a:spcAft>
              <a:defRPr sz="1250" b="1">
                <a:solidFill>
                  <a:srgbClr val="006955"/>
                </a:solidFill>
                <a:latin typeface="微软雅黑" panose="020B0503020204020204" pitchFamily="34" charset="-122"/>
              </a:defRPr>
            </a:pPr>
            <a:r>
              <a:t>申诉场景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2490" y="3090672"/>
            <a:ext cx="2468880" cy="583565"/>
          </a:xfrm>
          <a:prstGeom prst="rect">
            <a:avLst/>
          </a:prstGeom>
          <a:noFill/>
        </p:spPr>
        <p:txBody>
          <a:bodyPr wrap="square" lIns="90000" tIns="50000" rIns="90000" bIns="50000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203732"/>
                </a:solidFill>
                <a:latin typeface="微软雅黑" panose="020B0503020204020204" pitchFamily="34" charset="-122"/>
              </a:defRPr>
            </a:pPr>
            <a:r>
              <a:t>如出现学校检查范围外的异常，或学校已处理但看板仍异常，可准备好申诉材料，季度末会统一提交申诉材料。</a:t>
            </a:r>
          </a:p>
        </p:txBody>
      </p:sp>
      <p:sp>
        <p:nvSpPr>
          <p:cNvPr id="17" name="Straight Connector 16"/>
          <p:cNvSpPr/>
          <p:nvPr/>
        </p:nvSpPr>
        <p:spPr>
          <a:xfrm>
            <a:off x="6776339" y="3767328"/>
            <a:ext cx="3657600" cy="0"/>
          </a:xfrm>
          <a:prstGeom prst="lineInv">
            <a:avLst/>
          </a:prstGeom>
          <a:ln w="12700"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74003" y="3858768"/>
            <a:ext cx="347472" cy="347472"/>
          </a:xfrm>
          <a:prstGeom prst="roundRect">
            <a:avLst/>
          </a:prstGeom>
          <a:solidFill>
            <a:srgbClr val="F4B000"/>
          </a:solidFill>
          <a:ln w="12700">
            <a:solidFill>
              <a:srgbClr val="F4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0000" rIns="90000" bIns="5000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9491" y="3918458"/>
            <a:ext cx="1188720" cy="228600"/>
          </a:xfrm>
          <a:prstGeom prst="rect">
            <a:avLst/>
          </a:prstGeom>
          <a:noFill/>
        </p:spPr>
        <p:txBody>
          <a:bodyPr wrap="square" lIns="90000" tIns="50000" rIns="90000" bIns="50000">
            <a:spAutoFit/>
          </a:bodyPr>
          <a:lstStyle/>
          <a:p>
            <a:pPr algn="l">
              <a:spcAft>
                <a:spcPts val="400"/>
              </a:spcAft>
              <a:defRPr sz="1250" b="1">
                <a:solidFill>
                  <a:srgbClr val="006955"/>
                </a:solidFill>
                <a:latin typeface="微软雅黑" panose="020B0503020204020204" pitchFamily="34" charset="-122"/>
              </a:defRPr>
            </a:pPr>
            <a:r>
              <a:t>处理重点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2490" y="3847592"/>
            <a:ext cx="2468880" cy="512064"/>
          </a:xfrm>
          <a:prstGeom prst="rect">
            <a:avLst/>
          </a:prstGeom>
          <a:noFill/>
        </p:spPr>
        <p:txBody>
          <a:bodyPr wrap="square" lIns="90000" tIns="50000" rIns="90000" bIns="50000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203732"/>
                </a:solidFill>
                <a:latin typeface="微软雅黑" panose="020B0503020204020204" pitchFamily="34" charset="-122"/>
              </a:defRPr>
            </a:pPr>
            <a:r>
              <a:t>先确认是否属于集团口径问题，再判断是否需要系统修正或提交申诉。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8732" y="2526792"/>
            <a:ext cx="1261872" cy="237744"/>
          </a:xfrm>
          <a:prstGeom prst="rect">
            <a:avLst/>
          </a:prstGeom>
          <a:noFill/>
        </p:spPr>
        <p:txBody>
          <a:bodyPr wrap="square" lIns="90000" tIns="50000" rIns="90000" bIns="50000">
            <a:spAutoFit/>
          </a:bodyPr>
          <a:lstStyle/>
          <a:p>
            <a:pPr algn="l">
              <a:spcAft>
                <a:spcPts val="400"/>
              </a:spcAft>
              <a:defRPr sz="1250" b="1">
                <a:solidFill>
                  <a:srgbClr val="006955"/>
                </a:solidFill>
                <a:latin typeface="微软雅黑" panose="020B0503020204020204" pitchFamily="34" charset="-122"/>
              </a:defRPr>
            </a:pPr>
            <a:r>
              <a:t>班级信息表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7180" y="2377440"/>
            <a:ext cx="2852928" cy="658368"/>
          </a:xfrm>
          <a:prstGeom prst="rect">
            <a:avLst/>
          </a:prstGeom>
          <a:noFill/>
        </p:spPr>
        <p:txBody>
          <a:bodyPr wrap="square" lIns="90000" tIns="50000" rIns="90000" bIns="50000">
            <a:spAutoFit/>
          </a:bodyPr>
          <a:lstStyle/>
          <a:p>
            <a:pPr algn="l">
              <a:spcAft>
                <a:spcPts val="400"/>
              </a:spcAft>
              <a:defRPr sz="1040" b="0">
                <a:solidFill>
                  <a:srgbClr val="203732"/>
                </a:solidFill>
                <a:latin typeface="微软雅黑" panose="020B0503020204020204" pitchFamily="34" charset="-122"/>
              </a:defRPr>
            </a:pPr>
            <a:r>
              <a:t>ERP → 教务管理 → 班级管理 → 班级查询</a:t>
            </a:r>
            <a:br/>
            <a:r>
              <a:t>导出当月&amp;次月开课、当月结课、当月设班数据，整体去重。</a:t>
            </a:r>
          </a:p>
        </p:txBody>
      </p:sp>
      <p:sp>
        <p:nvSpPr>
          <p:cNvPr id="23" name="Straight Connector 22"/>
          <p:cNvSpPr/>
          <p:nvPr/>
        </p:nvSpPr>
        <p:spPr>
          <a:xfrm>
            <a:off x="1557020" y="3067812"/>
            <a:ext cx="4069080" cy="0"/>
          </a:xfrm>
          <a:prstGeom prst="lineInv">
            <a:avLst/>
          </a:prstGeom>
          <a:ln w="12700"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38732" y="3287268"/>
            <a:ext cx="1261872" cy="237744"/>
          </a:xfrm>
          <a:prstGeom prst="rect">
            <a:avLst/>
          </a:prstGeom>
          <a:noFill/>
        </p:spPr>
        <p:txBody>
          <a:bodyPr wrap="square" lIns="90000" tIns="50000" rIns="90000" bIns="50000">
            <a:spAutoFit/>
          </a:bodyPr>
          <a:lstStyle/>
          <a:p>
            <a:pPr algn="l">
              <a:spcAft>
                <a:spcPts val="400"/>
              </a:spcAft>
              <a:defRPr sz="1250" b="1">
                <a:solidFill>
                  <a:srgbClr val="006955"/>
                </a:solidFill>
                <a:latin typeface="微软雅黑" panose="020B0503020204020204" pitchFamily="34" charset="-122"/>
              </a:defRPr>
            </a:pPr>
            <a:r>
              <a:t>配课表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7180" y="3166491"/>
            <a:ext cx="2852928" cy="566928"/>
          </a:xfrm>
          <a:prstGeom prst="rect">
            <a:avLst/>
          </a:prstGeom>
          <a:noFill/>
        </p:spPr>
        <p:txBody>
          <a:bodyPr wrap="square" lIns="90000" tIns="50000" rIns="90000" bIns="50000">
            <a:spAutoFit/>
          </a:bodyPr>
          <a:lstStyle/>
          <a:p>
            <a:pPr algn="l">
              <a:spcAft>
                <a:spcPts val="400"/>
              </a:spcAft>
              <a:defRPr sz="1040" b="0">
                <a:solidFill>
                  <a:srgbClr val="203732"/>
                </a:solidFill>
                <a:latin typeface="微软雅黑" panose="020B0503020204020204" pitchFamily="34" charset="-122"/>
              </a:defRPr>
            </a:pPr>
            <a:r>
              <a:t>ERP → 考勤管理 → 考勤查询</a:t>
            </a:r>
            <a:br/>
            <a:r>
              <a:t>班级配课表/高端配课表，导出当月数据。</a:t>
            </a:r>
          </a:p>
        </p:txBody>
      </p:sp>
      <p:sp>
        <p:nvSpPr>
          <p:cNvPr id="26" name="Straight Connector 25"/>
          <p:cNvSpPr/>
          <p:nvPr/>
        </p:nvSpPr>
        <p:spPr>
          <a:xfrm>
            <a:off x="1557020" y="3774186"/>
            <a:ext cx="4069080" cy="0"/>
          </a:xfrm>
          <a:prstGeom prst="lineInv">
            <a:avLst/>
          </a:prstGeom>
          <a:ln w="12700"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38732" y="4042029"/>
            <a:ext cx="1261872" cy="237744"/>
          </a:xfrm>
          <a:prstGeom prst="rect">
            <a:avLst/>
          </a:prstGeom>
          <a:noFill/>
        </p:spPr>
        <p:txBody>
          <a:bodyPr wrap="square" lIns="90000" tIns="50000" rIns="90000" bIns="50000">
            <a:spAutoFit/>
          </a:bodyPr>
          <a:lstStyle/>
          <a:p>
            <a:pPr algn="l">
              <a:spcAft>
                <a:spcPts val="400"/>
              </a:spcAft>
              <a:defRPr sz="1250" b="1">
                <a:solidFill>
                  <a:srgbClr val="006955"/>
                </a:solidFill>
                <a:latin typeface="微软雅黑" panose="020B0503020204020204" pitchFamily="34" charset="-122"/>
              </a:defRPr>
            </a:pPr>
            <a:r>
              <a:t>自检方法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7180" y="3950589"/>
            <a:ext cx="2852928" cy="577850"/>
          </a:xfrm>
          <a:prstGeom prst="rect">
            <a:avLst/>
          </a:prstGeom>
          <a:noFill/>
        </p:spPr>
        <p:txBody>
          <a:bodyPr wrap="square" lIns="90000" tIns="50000" rIns="90000" bIns="50000">
            <a:spAutoFit/>
          </a:bodyPr>
          <a:lstStyle/>
          <a:p>
            <a:pPr algn="l">
              <a:spcAft>
                <a:spcPts val="400"/>
              </a:spcAft>
              <a:defRPr sz="1040" b="0">
                <a:solidFill>
                  <a:srgbClr val="203732"/>
                </a:solidFill>
                <a:latin typeface="微软雅黑" panose="020B0503020204020204" pitchFamily="34" charset="-122"/>
              </a:defRPr>
            </a:pPr>
            <a:r>
              <a:t>根据质检规则文档逐字段核对，定位异常后回到源头系统修正。自动化工具开发中，预计下季度可开放使用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74140" y="4846320"/>
            <a:ext cx="1216152" cy="384048"/>
          </a:xfrm>
          <a:prstGeom prst="roundRect">
            <a:avLst/>
          </a:prstGeom>
          <a:solidFill>
            <a:srgbClr val="006955"/>
          </a:solidFill>
          <a:ln w="12700">
            <a:solidFill>
              <a:srgbClr val="006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0000" rIns="90000" bIns="50000" rtlCol="0" anchor="ctr"/>
          <a:lstStyle/>
          <a:p>
            <a:pPr algn="ctr">
              <a:spcAft>
                <a:spcPts val="400"/>
              </a:spcAft>
              <a:defRPr sz="125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导出数据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2700020" y="4965192"/>
            <a:ext cx="502920" cy="146304"/>
          </a:xfrm>
          <a:prstGeom prst="rightArrow">
            <a:avLst/>
          </a:prstGeom>
          <a:solidFill>
            <a:srgbClr val="006955"/>
          </a:solidFill>
          <a:ln>
            <a:solidFill>
              <a:srgbClr val="006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385820" y="4846320"/>
            <a:ext cx="1216152" cy="384048"/>
          </a:xfrm>
          <a:prstGeom prst="roundRect">
            <a:avLst/>
          </a:prstGeom>
          <a:solidFill>
            <a:srgbClr val="006955"/>
          </a:solidFill>
          <a:ln w="12700">
            <a:solidFill>
              <a:srgbClr val="006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0000" rIns="90000" bIns="50000" rtlCol="0" anchor="ctr"/>
          <a:lstStyle/>
          <a:p>
            <a:pPr algn="ctr">
              <a:spcAft>
                <a:spcPts val="400"/>
              </a:spcAft>
              <a:defRPr sz="125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去重整合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711700" y="4965192"/>
            <a:ext cx="502920" cy="146304"/>
          </a:xfrm>
          <a:prstGeom prst="rightArrow">
            <a:avLst/>
          </a:prstGeom>
          <a:solidFill>
            <a:srgbClr val="006955"/>
          </a:solidFill>
          <a:ln>
            <a:solidFill>
              <a:srgbClr val="006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397500" y="4846320"/>
            <a:ext cx="1216152" cy="384048"/>
          </a:xfrm>
          <a:prstGeom prst="roundRect">
            <a:avLst/>
          </a:prstGeom>
          <a:solidFill>
            <a:srgbClr val="006955"/>
          </a:solidFill>
          <a:ln w="12700">
            <a:solidFill>
              <a:srgbClr val="006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0000" rIns="90000" bIns="50000" rtlCol="0" anchor="ctr"/>
          <a:lstStyle/>
          <a:p>
            <a:pPr algn="ctr">
              <a:spcAft>
                <a:spcPts val="400"/>
              </a:spcAft>
              <a:defRPr sz="125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对照规则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723380" y="4965192"/>
            <a:ext cx="502920" cy="146304"/>
          </a:xfrm>
          <a:prstGeom prst="rightArrow">
            <a:avLst/>
          </a:prstGeom>
          <a:solidFill>
            <a:srgbClr val="006955"/>
          </a:solidFill>
          <a:ln>
            <a:solidFill>
              <a:srgbClr val="006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409180" y="4846320"/>
            <a:ext cx="1216152" cy="384048"/>
          </a:xfrm>
          <a:prstGeom prst="roundRect">
            <a:avLst/>
          </a:prstGeom>
          <a:solidFill>
            <a:srgbClr val="006955"/>
          </a:solidFill>
          <a:ln w="12700">
            <a:solidFill>
              <a:srgbClr val="006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0000" rIns="90000" bIns="50000" rtlCol="0" anchor="ctr"/>
          <a:lstStyle/>
          <a:p>
            <a:pPr algn="ctr">
              <a:spcAft>
                <a:spcPts val="400"/>
              </a:spcAft>
              <a:defRPr sz="125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标记异常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8735060" y="4965192"/>
            <a:ext cx="502920" cy="146304"/>
          </a:xfrm>
          <a:prstGeom prst="rightArrow">
            <a:avLst/>
          </a:prstGeom>
          <a:solidFill>
            <a:srgbClr val="006955"/>
          </a:solidFill>
          <a:ln>
            <a:solidFill>
              <a:srgbClr val="006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420860" y="4846320"/>
            <a:ext cx="1216152" cy="384048"/>
          </a:xfrm>
          <a:prstGeom prst="roundRect">
            <a:avLst/>
          </a:prstGeom>
          <a:solidFill>
            <a:srgbClr val="DC2828"/>
          </a:solidFill>
          <a:ln w="12700">
            <a:solidFill>
              <a:srgbClr val="DC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0000" rIns="90000" bIns="50000" rtlCol="0" anchor="ctr"/>
          <a:lstStyle/>
          <a:p>
            <a:pPr algn="ctr">
              <a:spcAft>
                <a:spcPts val="400"/>
              </a:spcAft>
              <a:defRPr sz="125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修改/申诉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74140" y="5532120"/>
            <a:ext cx="9399905" cy="384175"/>
          </a:xfrm>
          <a:prstGeom prst="roundRect">
            <a:avLst/>
          </a:prstGeom>
          <a:solidFill>
            <a:srgbClr val="006955"/>
          </a:solidFill>
          <a:ln w="12700">
            <a:solidFill>
              <a:srgbClr val="006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0000" rIns="90000" bIns="5000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自查原则：集团异常看看板，学校异常查源表；能修改的改源头，口径不一致的按流程申诉。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 0" descr="/mnt/data/template_clean/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1"/>
          <p:cNvSpPr txBox="1"/>
          <p:nvPr/>
        </p:nvSpPr>
        <p:spPr>
          <a:xfrm>
            <a:off x="594360" y="502158"/>
            <a:ext cx="97840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04236"/>
                </a:solidFill>
                <a:latin typeface="微软雅黑"/>
              </a:rPr>
              <a:t>逐字段示范①：班级信息“基础信息完整”怎么查</a:t>
            </a:r>
            <a:endParaRPr sz="2200" b="1">
              <a:solidFill>
                <a:srgbClr val="004236"/>
              </a:solidFill>
              <a:latin typeface="微软雅黑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03504" y="922782"/>
            <a:ext cx="896112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950" b="0">
                <a:solidFill>
                  <a:srgbClr val="606F6A"/>
                </a:solidFill>
                <a:latin typeface="微软雅黑"/>
              </a:rPr>
              <a:t>把示例数据拆回源字段，按“命中规则—异常原因—处理动作”完成判断。</a:t>
            </a:r>
            <a:endParaRPr sz="950" b="0">
              <a:solidFill>
                <a:srgbClr val="606F6A"/>
              </a:solidFill>
              <a:latin typeface="微软雅黑"/>
            </a:endParaRPr>
          </a:p>
        </p:txBody>
      </p:sp>
      <p:sp>
        <p:nvSpPr>
          <p:cNvPr id="6" name="Rounded Rectangle 4"/>
          <p:cNvSpPr/>
          <p:nvPr/>
        </p:nvSpPr>
        <p:spPr>
          <a:xfrm>
            <a:off x="658368" y="1525397"/>
            <a:ext cx="2057400" cy="301752"/>
          </a:xfrm>
          <a:prstGeom prst="roundRect">
            <a:avLst/>
          </a:prstGeom>
          <a:solidFill>
            <a:srgbClr val="004236"/>
          </a:solidFill>
          <a:ln>
            <a:solidFill>
              <a:srgbClr val="004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示例字段拆解</a:t>
            </a:r>
            <a:endParaRPr sz="1100" b="1">
              <a:solidFill>
                <a:srgbClr val="FFFFFF"/>
              </a:solidFill>
              <a:latin typeface="微软雅黑"/>
            </a:endParaRPr>
          </a:p>
        </p:txBody>
      </p:sp>
      <p:graphicFrame>
        <p:nvGraphicFramePr>
          <p:cNvPr id="7" name="Table 5"/>
          <p:cNvGraphicFramePr>
            <a:graphicFrameLocks noGrp="1"/>
          </p:cNvGraphicFramePr>
          <p:nvPr/>
        </p:nvGraphicFramePr>
        <p:xfrm>
          <a:off x="658368" y="1927733"/>
          <a:ext cx="5532120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971800"/>
                <a:gridCol w="114300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字段</a:t>
                      </a:r>
                      <a:endParaRPr sz="105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 anchorCtr="0">
                    <a:solidFill>
                      <a:srgbClr val="004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示例值</a:t>
                      </a:r>
                      <a:endParaRPr sz="105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 anchorCtr="0">
                    <a:solidFill>
                      <a:srgbClr val="004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判断</a:t>
                      </a:r>
                      <a:endParaRPr sz="105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 anchorCtr="0">
                    <a:solidFill>
                      <a:srgbClr val="00423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10201C"/>
                          </a:solidFill>
                          <a:latin typeface="微软雅黑"/>
                        </a:rPr>
                        <a:t>班级编码</a:t>
                      </a:r>
                      <a:endParaRPr sz="930" b="1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0201C"/>
                          </a:solidFill>
                          <a:latin typeface="微软雅黑"/>
                        </a:rPr>
                        <a:t>SZ26DJQ171B</a:t>
                      </a:r>
                      <a:endParaRPr sz="930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5B6670"/>
                          </a:solidFill>
                          <a:latin typeface="微软雅黑"/>
                        </a:rPr>
                        <a:t>定位班级</a:t>
                      </a:r>
                      <a:endParaRPr sz="930" b="1">
                        <a:solidFill>
                          <a:srgbClr val="5B6670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10201C"/>
                          </a:solidFill>
                          <a:latin typeface="微软雅黑"/>
                        </a:rPr>
                        <a:t>班级名称（外）</a:t>
                      </a:r>
                      <a:endParaRPr sz="930" b="1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0201C"/>
                          </a:solidFill>
                          <a:latin typeface="微软雅黑"/>
                        </a:rPr>
                        <a:t>机器人S2-4段班</a:t>
                      </a:r>
                      <a:endParaRPr sz="930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5B6670"/>
                          </a:solidFill>
                          <a:latin typeface="微软雅黑"/>
                        </a:rPr>
                        <a:t>核对名称</a:t>
                      </a:r>
                      <a:endParaRPr sz="930" b="1">
                        <a:solidFill>
                          <a:srgbClr val="5B6670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10201C"/>
                          </a:solidFill>
                          <a:latin typeface="微软雅黑"/>
                        </a:rPr>
                        <a:t>班级名称（内）</a:t>
                      </a:r>
                      <a:endParaRPr sz="930" b="1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0201C"/>
                          </a:solidFill>
                          <a:latin typeface="微软雅黑"/>
                        </a:rPr>
                        <a:t>机器人S3春季下班（春下12次课）</a:t>
                      </a:r>
                      <a:endParaRPr sz="930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5B6670"/>
                          </a:solidFill>
                          <a:latin typeface="微软雅黑"/>
                        </a:rPr>
                        <a:t>核对名称</a:t>
                      </a:r>
                      <a:endParaRPr sz="930" b="1">
                        <a:solidFill>
                          <a:srgbClr val="5B6670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zh-CN" sz="930" b="1">
                          <a:solidFill>
                            <a:srgbClr val="10201C"/>
                          </a:solidFill>
                          <a:latin typeface="微软雅黑"/>
                        </a:rPr>
                        <a:t>季度</a:t>
                      </a:r>
                      <a:endParaRPr lang="zh-CN" sz="930" b="1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930">
                          <a:solidFill>
                            <a:srgbClr val="10201C"/>
                          </a:solidFill>
                          <a:latin typeface="微软雅黑"/>
                        </a:rPr>
                        <a:t>春季下</a:t>
                      </a:r>
                      <a:endParaRPr lang="zh-CN" sz="930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930" b="1">
                          <a:solidFill>
                            <a:srgbClr val="5B6670"/>
                          </a:solidFill>
                          <a:latin typeface="微软雅黑"/>
                        </a:rPr>
                        <a:t>拆分上下段</a:t>
                      </a:r>
                      <a:r>
                        <a:rPr lang="zh-CN" sz="930" b="1">
                          <a:solidFill>
                            <a:srgbClr val="5B6670"/>
                          </a:solidFill>
                          <a:latin typeface="微软雅黑"/>
                        </a:rPr>
                        <a:t>班级</a:t>
                      </a:r>
                      <a:endParaRPr lang="zh-CN" sz="930" b="1">
                        <a:solidFill>
                          <a:srgbClr val="5B6670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10201C"/>
                          </a:solidFill>
                          <a:latin typeface="微软雅黑"/>
                        </a:rPr>
                        <a:t>关联班号</a:t>
                      </a:r>
                      <a:endParaRPr sz="930" b="1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0201C"/>
                          </a:solidFill>
                          <a:latin typeface="微软雅黑"/>
                        </a:rPr>
                        <a:t>空 / 缺失</a:t>
                      </a:r>
                      <a:endParaRPr sz="930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D84C3E"/>
                          </a:solidFill>
                          <a:latin typeface="微软雅黑"/>
                        </a:rPr>
                        <a:t>命中异常</a:t>
                      </a:r>
                      <a:endParaRPr sz="930" b="1">
                        <a:solidFill>
                          <a:srgbClr val="D84C3E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6"/>
          <p:cNvSpPr/>
          <p:nvPr/>
        </p:nvSpPr>
        <p:spPr>
          <a:xfrm>
            <a:off x="6537960" y="1525397"/>
            <a:ext cx="2057400" cy="301752"/>
          </a:xfrm>
          <a:prstGeom prst="roundRect">
            <a:avLst/>
          </a:prstGeom>
          <a:solidFill>
            <a:srgbClr val="004236"/>
          </a:solidFill>
          <a:ln>
            <a:solidFill>
              <a:srgbClr val="004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答案与处理</a:t>
            </a:r>
            <a:endParaRPr sz="11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6537960" y="2185035"/>
            <a:ext cx="5074920" cy="619760"/>
          </a:xfrm>
          <a:prstGeom prst="roundRect">
            <a:avLst/>
          </a:prstGeom>
          <a:solidFill>
            <a:srgbClr val="F9FBFA"/>
          </a:solidFill>
          <a:ln w="10160">
            <a:solidFill>
              <a:srgbClr val="D7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09728" bIns="54864" rtlCol="0" anchor="t"/>
          <a:lstStyle/>
          <a:p>
            <a:pPr algn="ctr">
              <a:spcAft>
                <a:spcPts val="400"/>
              </a:spcAft>
            </a:pPr>
            <a:r>
              <a:rPr sz="1220" b="1">
                <a:solidFill>
                  <a:srgbClr val="004236"/>
                </a:solidFill>
                <a:latin typeface="微软雅黑"/>
              </a:rPr>
              <a:t>命中规则</a:t>
            </a:r>
            <a:endParaRPr sz="1220" b="1">
              <a:solidFill>
                <a:srgbClr val="004236"/>
              </a:solidFill>
              <a:latin typeface="微软雅黑"/>
            </a:endParaRPr>
          </a:p>
          <a:p>
            <a:pPr algn="ctr">
              <a:lnSpc>
                <a:spcPct val="108000"/>
              </a:lnSpc>
              <a:defRPr sz="1020">
                <a:solidFill>
                  <a:srgbClr val="10201C"/>
                </a:solidFill>
                <a:latin typeface="微软雅黑"/>
              </a:defRPr>
            </a:pPr>
            <a:r>
              <a:t>班级质检-5-班级基础信息完整</a:t>
            </a:r>
          </a:p>
        </p:txBody>
      </p:sp>
      <p:sp>
        <p:nvSpPr>
          <p:cNvPr id="10" name="Rectangle 8"/>
          <p:cNvSpPr/>
          <p:nvPr/>
        </p:nvSpPr>
        <p:spPr>
          <a:xfrm>
            <a:off x="6537960" y="2185035"/>
            <a:ext cx="76200" cy="638175"/>
          </a:xfrm>
          <a:prstGeom prst="rect">
            <a:avLst/>
          </a:prstGeom>
          <a:solidFill>
            <a:srgbClr val="F6B500"/>
          </a:solidFill>
          <a:ln>
            <a:solidFill>
              <a:srgbClr val="F6B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9"/>
          <p:cNvSpPr/>
          <p:nvPr/>
        </p:nvSpPr>
        <p:spPr>
          <a:xfrm>
            <a:off x="6537960" y="3145790"/>
            <a:ext cx="5074920" cy="711200"/>
          </a:xfrm>
          <a:prstGeom prst="roundRect">
            <a:avLst/>
          </a:prstGeom>
          <a:solidFill>
            <a:srgbClr val="F9FBFA"/>
          </a:solidFill>
          <a:ln w="10160">
            <a:solidFill>
              <a:srgbClr val="D7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09728" bIns="54864" rtlCol="0" anchor="t"/>
          <a:lstStyle/>
          <a:p>
            <a:pPr algn="ctr">
              <a:spcAft>
                <a:spcPts val="400"/>
              </a:spcAft>
            </a:pPr>
            <a:r>
              <a:rPr sz="1220" b="1">
                <a:solidFill>
                  <a:srgbClr val="004236"/>
                </a:solidFill>
                <a:latin typeface="微软雅黑"/>
              </a:rPr>
              <a:t>为什么异常</a:t>
            </a:r>
            <a:endParaRPr sz="1220" b="1">
              <a:solidFill>
                <a:srgbClr val="004236"/>
              </a:solidFill>
              <a:latin typeface="微软雅黑"/>
            </a:endParaRPr>
          </a:p>
          <a:p>
            <a:pPr algn="ctr">
              <a:lnSpc>
                <a:spcPct val="108000"/>
              </a:lnSpc>
              <a:defRPr sz="1020">
                <a:solidFill>
                  <a:srgbClr val="10201C"/>
                </a:solidFill>
                <a:latin typeface="微软雅黑"/>
              </a:defRPr>
            </a:pPr>
            <a:r>
              <a:t>该示例属于</a:t>
            </a:r>
            <a:r>
              <a:rPr lang="zh-CN"/>
              <a:t>拆分上下段班级</a:t>
            </a:r>
            <a:r>
              <a:t>，但</a:t>
            </a:r>
            <a:r>
              <a:rPr lang="zh-CN"/>
              <a:t>关联班号</a:t>
            </a:r>
            <a:r>
              <a:t>字段缺失。</a:t>
            </a:r>
          </a:p>
        </p:txBody>
      </p:sp>
      <p:sp>
        <p:nvSpPr>
          <p:cNvPr id="12" name="Rectangle 10"/>
          <p:cNvSpPr/>
          <p:nvPr/>
        </p:nvSpPr>
        <p:spPr>
          <a:xfrm>
            <a:off x="6537960" y="3145790"/>
            <a:ext cx="76200" cy="681990"/>
          </a:xfrm>
          <a:prstGeom prst="rect">
            <a:avLst/>
          </a:prstGeom>
          <a:solidFill>
            <a:srgbClr val="D84C3E"/>
          </a:solidFill>
          <a:ln>
            <a:solidFill>
              <a:srgbClr val="D84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1"/>
          <p:cNvSpPr/>
          <p:nvPr/>
        </p:nvSpPr>
        <p:spPr>
          <a:xfrm>
            <a:off x="6537960" y="4297680"/>
            <a:ext cx="5074920" cy="638810"/>
          </a:xfrm>
          <a:prstGeom prst="roundRect">
            <a:avLst/>
          </a:prstGeom>
          <a:solidFill>
            <a:srgbClr val="F9FBFA"/>
          </a:solidFill>
          <a:ln w="10160">
            <a:solidFill>
              <a:srgbClr val="D7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09728" bIns="54864" rtlCol="0" anchor="t"/>
          <a:lstStyle/>
          <a:p>
            <a:pPr algn="ctr">
              <a:spcAft>
                <a:spcPts val="400"/>
              </a:spcAft>
            </a:pPr>
            <a:r>
              <a:rPr sz="1220" b="1">
                <a:solidFill>
                  <a:srgbClr val="004236"/>
                </a:solidFill>
                <a:latin typeface="微软雅黑"/>
              </a:rPr>
              <a:t>应该怎么改</a:t>
            </a:r>
            <a:endParaRPr sz="1220" b="1">
              <a:solidFill>
                <a:srgbClr val="004236"/>
              </a:solidFill>
              <a:latin typeface="微软雅黑"/>
            </a:endParaRPr>
          </a:p>
          <a:p>
            <a:pPr algn="ctr">
              <a:lnSpc>
                <a:spcPct val="108000"/>
              </a:lnSpc>
              <a:defRPr sz="1020">
                <a:solidFill>
                  <a:srgbClr val="10201C"/>
                </a:solidFill>
                <a:latin typeface="微软雅黑"/>
              </a:defRPr>
            </a:pPr>
            <a:r>
              <a:t>补充关联班号；补充后再复检，确认</a:t>
            </a:r>
            <a:r>
              <a:rPr lang="zh-CN"/>
              <a:t>班级关联</a:t>
            </a:r>
            <a:r>
              <a:t>关系可追溯。</a:t>
            </a:r>
          </a:p>
        </p:txBody>
      </p:sp>
      <p:sp>
        <p:nvSpPr>
          <p:cNvPr id="14" name="Rectangle 12"/>
          <p:cNvSpPr/>
          <p:nvPr/>
        </p:nvSpPr>
        <p:spPr>
          <a:xfrm>
            <a:off x="6537960" y="4297680"/>
            <a:ext cx="76200" cy="656590"/>
          </a:xfrm>
          <a:prstGeom prst="rect">
            <a:avLst/>
          </a:prstGeom>
          <a:solidFill>
            <a:srgbClr val="007A65"/>
          </a:solidFill>
          <a:ln>
            <a:solidFill>
              <a:srgbClr val="007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 0" descr="/mnt/data/template_clean/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1"/>
          <p:cNvSpPr txBox="1"/>
          <p:nvPr/>
        </p:nvSpPr>
        <p:spPr>
          <a:xfrm>
            <a:off x="594360" y="460947"/>
            <a:ext cx="6452235" cy="42989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004236"/>
                </a:solidFill>
                <a:latin typeface="微软雅黑"/>
                <a:sym typeface="+mn-ea"/>
              </a:rPr>
              <a:t>逐字段示范②：班级信息“上课地点/教室”怎么查</a:t>
            </a:r>
            <a:endParaRPr sz="2200" b="1">
              <a:solidFill>
                <a:srgbClr val="004236"/>
              </a:solidFill>
              <a:latin typeface="微软雅黑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03504" y="922782"/>
            <a:ext cx="896112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950" b="0">
                <a:solidFill>
                  <a:srgbClr val="606F6A"/>
                </a:solidFill>
                <a:latin typeface="微软雅黑"/>
              </a:rPr>
              <a:t>把示例数据拆回源字段，按“命中规则—异常原因—处理动作”完成判断。</a:t>
            </a:r>
            <a:endParaRPr sz="950" b="0">
              <a:solidFill>
                <a:srgbClr val="606F6A"/>
              </a:solidFill>
              <a:latin typeface="微软雅黑"/>
            </a:endParaRPr>
          </a:p>
        </p:txBody>
      </p:sp>
      <p:sp>
        <p:nvSpPr>
          <p:cNvPr id="6" name="Rounded Rectangle 4"/>
          <p:cNvSpPr/>
          <p:nvPr/>
        </p:nvSpPr>
        <p:spPr>
          <a:xfrm>
            <a:off x="658368" y="1525397"/>
            <a:ext cx="2057400" cy="301752"/>
          </a:xfrm>
          <a:prstGeom prst="roundRect">
            <a:avLst/>
          </a:prstGeom>
          <a:solidFill>
            <a:srgbClr val="004236"/>
          </a:solidFill>
          <a:ln>
            <a:solidFill>
              <a:srgbClr val="004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示例字段拆解</a:t>
            </a:r>
            <a:endParaRPr sz="1100" b="1">
              <a:solidFill>
                <a:srgbClr val="FFFFFF"/>
              </a:solidFill>
              <a:latin typeface="微软雅黑"/>
            </a:endParaRPr>
          </a:p>
        </p:txBody>
      </p:sp>
      <p:graphicFrame>
        <p:nvGraphicFramePr>
          <p:cNvPr id="7" name="Table 5"/>
          <p:cNvGraphicFramePr>
            <a:graphicFrameLocks noGrp="1"/>
          </p:cNvGraphicFramePr>
          <p:nvPr/>
        </p:nvGraphicFramePr>
        <p:xfrm>
          <a:off x="658368" y="1927733"/>
          <a:ext cx="5532120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971800"/>
                <a:gridCol w="114300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字段</a:t>
                      </a:r>
                      <a:endParaRPr sz="105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 anchorCtr="0">
                    <a:solidFill>
                      <a:srgbClr val="004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示例值</a:t>
                      </a:r>
                      <a:endParaRPr sz="105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 anchorCtr="0">
                    <a:solidFill>
                      <a:srgbClr val="004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判断</a:t>
                      </a:r>
                      <a:endParaRPr sz="105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 anchorCtr="0">
                    <a:solidFill>
                      <a:srgbClr val="00423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zh-CN" sz="930" b="1">
                          <a:solidFill>
                            <a:srgbClr val="10201C"/>
                          </a:solidFill>
                          <a:latin typeface="微软雅黑"/>
                        </a:rPr>
                        <a:t>产品</a:t>
                      </a:r>
                      <a:r>
                        <a:rPr lang="zh-CN" sz="930" b="1">
                          <a:solidFill>
                            <a:srgbClr val="10201C"/>
                          </a:solidFill>
                          <a:latin typeface="微软雅黑"/>
                        </a:rPr>
                        <a:t>体系</a:t>
                      </a:r>
                      <a:endParaRPr lang="zh-CN" sz="930" b="1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30">
                          <a:solidFill>
                            <a:srgbClr val="10201C"/>
                          </a:solidFill>
                          <a:latin typeface="微软雅黑"/>
                        </a:rPr>
                        <a:t>A</a:t>
                      </a:r>
                      <a:r>
                        <a:rPr lang="zh-CN" altLang="en-US" sz="930">
                          <a:solidFill>
                            <a:srgbClr val="10201C"/>
                          </a:solidFill>
                          <a:latin typeface="微软雅黑"/>
                        </a:rPr>
                        <a:t>体系</a:t>
                      </a:r>
                      <a:endParaRPr lang="zh-CN" altLang="en-US" sz="930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930" b="1">
                          <a:solidFill>
                            <a:srgbClr val="5B6670"/>
                          </a:solidFill>
                          <a:latin typeface="微软雅黑"/>
                        </a:rPr>
                        <a:t>非计费</a:t>
                      </a:r>
                      <a:r>
                        <a:rPr lang="zh-CN" sz="930" b="1">
                          <a:solidFill>
                            <a:srgbClr val="5B6670"/>
                          </a:solidFill>
                          <a:latin typeface="微软雅黑"/>
                        </a:rPr>
                        <a:t>体系</a:t>
                      </a:r>
                      <a:endParaRPr lang="zh-CN" sz="930" b="1">
                        <a:solidFill>
                          <a:srgbClr val="5B6670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10201C"/>
                          </a:solidFill>
                          <a:latin typeface="微软雅黑"/>
                        </a:rPr>
                        <a:t>班级名称（外）</a:t>
                      </a:r>
                      <a:endParaRPr sz="930" b="1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0201C"/>
                          </a:solidFill>
                          <a:latin typeface="微软雅黑"/>
                        </a:rPr>
                        <a:t>SYYW暑假智慧学习小组7A</a:t>
                      </a:r>
                      <a:endParaRPr sz="930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930" b="1">
                          <a:solidFill>
                            <a:srgbClr val="5B6670"/>
                          </a:solidFill>
                          <a:latin typeface="微软雅黑"/>
                        </a:rPr>
                        <a:t>正常行课班级</a:t>
                      </a:r>
                      <a:r>
                        <a:rPr lang="en-US" altLang="zh-CN" sz="930" b="1">
                          <a:solidFill>
                            <a:srgbClr val="5B6670"/>
                          </a:solidFill>
                          <a:latin typeface="微软雅黑"/>
                        </a:rPr>
                        <a:t>，</a:t>
                      </a:r>
                      <a:r>
                        <a:rPr lang="zh-CN" altLang="en-US" sz="930" b="1">
                          <a:solidFill>
                            <a:srgbClr val="5B6670"/>
                          </a:solidFill>
                          <a:latin typeface="微软雅黑"/>
                        </a:rPr>
                        <a:t>非企培等特殊</a:t>
                      </a:r>
                      <a:r>
                        <a:rPr lang="zh-CN" altLang="en-US" sz="930" b="1">
                          <a:solidFill>
                            <a:srgbClr val="5B6670"/>
                          </a:solidFill>
                          <a:latin typeface="微软雅黑"/>
                        </a:rPr>
                        <a:t>班级</a:t>
                      </a:r>
                      <a:endParaRPr lang="zh-CN" altLang="en-US" sz="930" b="1">
                        <a:solidFill>
                          <a:srgbClr val="5B6670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zh-CN" sz="930" b="1">
                          <a:solidFill>
                            <a:srgbClr val="10201C"/>
                          </a:solidFill>
                          <a:latin typeface="微软雅黑"/>
                        </a:rPr>
                        <a:t>班级</a:t>
                      </a:r>
                      <a:r>
                        <a:rPr lang="zh-CN" sz="930" b="1">
                          <a:solidFill>
                            <a:srgbClr val="10201C"/>
                          </a:solidFill>
                          <a:latin typeface="微软雅黑"/>
                        </a:rPr>
                        <a:t>状态</a:t>
                      </a:r>
                      <a:endParaRPr lang="zh-CN" sz="930" b="1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930">
                          <a:solidFill>
                            <a:srgbClr val="10201C"/>
                          </a:solidFill>
                          <a:latin typeface="微软雅黑"/>
                        </a:rPr>
                        <a:t>正常</a:t>
                      </a:r>
                      <a:endParaRPr lang="zh-CN" sz="930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930" b="1">
                          <a:solidFill>
                            <a:srgbClr val="5B6670"/>
                          </a:solidFill>
                          <a:latin typeface="微软雅黑"/>
                        </a:rPr>
                        <a:t>非取消班</a:t>
                      </a:r>
                      <a:r>
                        <a:rPr lang="zh-CN" sz="930" b="1">
                          <a:solidFill>
                            <a:srgbClr val="5B6670"/>
                          </a:solidFill>
                          <a:latin typeface="微软雅黑"/>
                        </a:rPr>
                        <a:t>班级</a:t>
                      </a:r>
                      <a:endParaRPr lang="zh-CN" sz="930" b="1">
                        <a:solidFill>
                          <a:srgbClr val="5B6670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zh-CN" sz="930" b="1">
                          <a:solidFill>
                            <a:srgbClr val="10201C"/>
                          </a:solidFill>
                          <a:latin typeface="微软雅黑"/>
                        </a:rPr>
                        <a:t>实际开课</a:t>
                      </a:r>
                      <a:r>
                        <a:rPr lang="zh-CN" sz="930" b="1">
                          <a:solidFill>
                            <a:srgbClr val="10201C"/>
                          </a:solidFill>
                          <a:latin typeface="微软雅黑"/>
                        </a:rPr>
                        <a:t>日期</a:t>
                      </a:r>
                      <a:endParaRPr lang="zh-CN" sz="930" b="1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sz="930" b="0" i="0">
                          <a:solidFill>
                            <a:srgbClr val="10201C"/>
                          </a:solidFill>
                          <a:latin typeface="微软雅黑"/>
                        </a:rPr>
                        <a:t>2026-07-22 00:00:00</a:t>
                      </a:r>
                      <a:endParaRPr sz="930" b="0" i="0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13017" marR="13017" marT="13017" marB="0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930" b="1">
                          <a:solidFill>
                            <a:srgbClr val="5B6670"/>
                          </a:solidFill>
                          <a:latin typeface="微软雅黑"/>
                        </a:rPr>
                        <a:t>已开课</a:t>
                      </a:r>
                      <a:r>
                        <a:rPr lang="zh-CN" sz="930" b="1">
                          <a:solidFill>
                            <a:srgbClr val="5B6670"/>
                          </a:solidFill>
                          <a:latin typeface="微软雅黑"/>
                        </a:rPr>
                        <a:t>班级</a:t>
                      </a:r>
                      <a:endParaRPr lang="zh-CN" sz="930" b="1">
                        <a:solidFill>
                          <a:srgbClr val="5B6670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10201C"/>
                          </a:solidFill>
                          <a:latin typeface="微软雅黑"/>
                        </a:rPr>
                        <a:t>上课教室</a:t>
                      </a:r>
                      <a:endParaRPr sz="930" b="1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0201C"/>
                          </a:solidFill>
                          <a:latin typeface="微软雅黑"/>
                        </a:rPr>
                        <a:t>空 / 缺失</a:t>
                      </a:r>
                      <a:endParaRPr sz="930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D84C3E"/>
                          </a:solidFill>
                          <a:latin typeface="微软雅黑"/>
                        </a:rPr>
                        <a:t>命中异常</a:t>
                      </a:r>
                      <a:endParaRPr sz="930" b="1">
                        <a:solidFill>
                          <a:srgbClr val="D84C3E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6"/>
          <p:cNvSpPr/>
          <p:nvPr/>
        </p:nvSpPr>
        <p:spPr>
          <a:xfrm>
            <a:off x="6537960" y="1525397"/>
            <a:ext cx="2057400" cy="301752"/>
          </a:xfrm>
          <a:prstGeom prst="roundRect">
            <a:avLst/>
          </a:prstGeom>
          <a:solidFill>
            <a:srgbClr val="004236"/>
          </a:solidFill>
          <a:ln>
            <a:solidFill>
              <a:srgbClr val="004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答案与处理</a:t>
            </a:r>
            <a:endParaRPr sz="11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6537960" y="2185035"/>
            <a:ext cx="5074920" cy="619760"/>
          </a:xfrm>
          <a:prstGeom prst="roundRect">
            <a:avLst/>
          </a:prstGeom>
          <a:solidFill>
            <a:srgbClr val="F9FBFA"/>
          </a:solidFill>
          <a:ln w="10160">
            <a:solidFill>
              <a:srgbClr val="D7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09728" bIns="54864" rtlCol="0" anchor="t"/>
          <a:lstStyle/>
          <a:p>
            <a:pPr algn="ctr">
              <a:spcAft>
                <a:spcPts val="400"/>
              </a:spcAft>
            </a:pPr>
            <a:r>
              <a:rPr sz="1220" b="1">
                <a:solidFill>
                  <a:srgbClr val="004236"/>
                </a:solidFill>
                <a:latin typeface="微软雅黑"/>
              </a:rPr>
              <a:t>命中规则</a:t>
            </a:r>
            <a:endParaRPr sz="1220" b="1">
              <a:solidFill>
                <a:srgbClr val="004236"/>
              </a:solidFill>
              <a:latin typeface="微软雅黑"/>
            </a:endParaRPr>
          </a:p>
          <a:p>
            <a:pPr algn="ctr">
              <a:lnSpc>
                <a:spcPct val="108000"/>
              </a:lnSpc>
              <a:defRPr sz="1020">
                <a:solidFill>
                  <a:srgbClr val="10201C"/>
                </a:solidFill>
                <a:latin typeface="微软雅黑"/>
              </a:defRPr>
            </a:pPr>
            <a:r>
              <a:rPr>
                <a:sym typeface="+mn-ea"/>
              </a:rPr>
              <a:t>班级质检-19-未设置上课地点、上课教室</a:t>
            </a:r>
            <a:endParaRPr>
              <a:sym typeface="+mn-ea"/>
            </a:endParaRPr>
          </a:p>
        </p:txBody>
      </p:sp>
      <p:sp>
        <p:nvSpPr>
          <p:cNvPr id="10" name="Rectangle 8"/>
          <p:cNvSpPr/>
          <p:nvPr/>
        </p:nvSpPr>
        <p:spPr>
          <a:xfrm>
            <a:off x="6537960" y="2185035"/>
            <a:ext cx="76200" cy="638175"/>
          </a:xfrm>
          <a:prstGeom prst="rect">
            <a:avLst/>
          </a:prstGeom>
          <a:solidFill>
            <a:srgbClr val="F6B500"/>
          </a:solidFill>
          <a:ln>
            <a:solidFill>
              <a:srgbClr val="F6B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9"/>
          <p:cNvSpPr/>
          <p:nvPr/>
        </p:nvSpPr>
        <p:spPr>
          <a:xfrm>
            <a:off x="6537960" y="3145790"/>
            <a:ext cx="5074920" cy="711200"/>
          </a:xfrm>
          <a:prstGeom prst="roundRect">
            <a:avLst/>
          </a:prstGeom>
          <a:solidFill>
            <a:srgbClr val="F9FBFA"/>
          </a:solidFill>
          <a:ln w="10160">
            <a:solidFill>
              <a:srgbClr val="D7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09728" bIns="54864" rtlCol="0" anchor="t"/>
          <a:lstStyle/>
          <a:p>
            <a:pPr algn="ctr">
              <a:spcAft>
                <a:spcPts val="400"/>
              </a:spcAft>
            </a:pPr>
            <a:r>
              <a:rPr sz="1220" b="1">
                <a:solidFill>
                  <a:srgbClr val="004236"/>
                </a:solidFill>
                <a:latin typeface="微软雅黑"/>
              </a:rPr>
              <a:t>为什么异常</a:t>
            </a:r>
            <a:endParaRPr sz="1220" b="1">
              <a:solidFill>
                <a:srgbClr val="004236"/>
              </a:solidFill>
              <a:latin typeface="微软雅黑"/>
            </a:endParaRPr>
          </a:p>
          <a:p>
            <a:pPr algn="ctr">
              <a:lnSpc>
                <a:spcPct val="108000"/>
              </a:lnSpc>
              <a:defRPr sz="1020">
                <a:solidFill>
                  <a:srgbClr val="10201C"/>
                </a:solidFill>
                <a:latin typeface="微软雅黑"/>
              </a:defRPr>
            </a:pPr>
            <a:r>
              <a:rPr>
                <a:sym typeface="+mn-ea"/>
              </a:rPr>
              <a:t>非取消、企培、计费班级，且已开课，上课教室字段缺失，后续考勤、排课和质检都无法准确落点。</a:t>
            </a:r>
            <a:endParaRPr>
              <a:sym typeface="+mn-ea"/>
            </a:endParaRPr>
          </a:p>
        </p:txBody>
      </p:sp>
      <p:sp>
        <p:nvSpPr>
          <p:cNvPr id="12" name="Rectangle 10"/>
          <p:cNvSpPr/>
          <p:nvPr/>
        </p:nvSpPr>
        <p:spPr>
          <a:xfrm>
            <a:off x="6537960" y="3145790"/>
            <a:ext cx="76200" cy="681990"/>
          </a:xfrm>
          <a:prstGeom prst="rect">
            <a:avLst/>
          </a:prstGeom>
          <a:solidFill>
            <a:srgbClr val="D84C3E"/>
          </a:solidFill>
          <a:ln>
            <a:solidFill>
              <a:srgbClr val="D84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1"/>
          <p:cNvSpPr/>
          <p:nvPr/>
        </p:nvSpPr>
        <p:spPr>
          <a:xfrm>
            <a:off x="6537960" y="4297680"/>
            <a:ext cx="5074920" cy="638810"/>
          </a:xfrm>
          <a:prstGeom prst="roundRect">
            <a:avLst/>
          </a:prstGeom>
          <a:solidFill>
            <a:srgbClr val="F9FBFA"/>
          </a:solidFill>
          <a:ln w="10160">
            <a:solidFill>
              <a:srgbClr val="D7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09728" bIns="54864" rtlCol="0" anchor="t"/>
          <a:lstStyle/>
          <a:p>
            <a:pPr algn="ctr">
              <a:spcAft>
                <a:spcPts val="400"/>
              </a:spcAft>
            </a:pPr>
            <a:r>
              <a:rPr sz="1220" b="1">
                <a:solidFill>
                  <a:srgbClr val="004236"/>
                </a:solidFill>
                <a:latin typeface="微软雅黑"/>
              </a:rPr>
              <a:t>应该怎么改</a:t>
            </a:r>
            <a:endParaRPr sz="1220" b="1">
              <a:solidFill>
                <a:srgbClr val="004236"/>
              </a:solidFill>
              <a:latin typeface="微软雅黑"/>
            </a:endParaRPr>
          </a:p>
          <a:p>
            <a:pPr algn="ctr">
              <a:lnSpc>
                <a:spcPct val="108000"/>
              </a:lnSpc>
              <a:defRPr sz="1020">
                <a:solidFill>
                  <a:srgbClr val="10201C"/>
                </a:solidFill>
                <a:latin typeface="微软雅黑"/>
              </a:defRPr>
            </a:pPr>
            <a:r>
              <a:rPr>
                <a:sym typeface="+mn-ea"/>
              </a:rPr>
              <a:t>在班级信息中补充上课教室；按学校口径维护可识别的教室/教学区信息。</a:t>
            </a:r>
            <a:endParaRPr>
              <a:sym typeface="+mn-ea"/>
            </a:endParaRPr>
          </a:p>
        </p:txBody>
      </p:sp>
      <p:sp>
        <p:nvSpPr>
          <p:cNvPr id="14" name="Rectangle 12"/>
          <p:cNvSpPr/>
          <p:nvPr/>
        </p:nvSpPr>
        <p:spPr>
          <a:xfrm>
            <a:off x="6537960" y="4297680"/>
            <a:ext cx="76200" cy="656590"/>
          </a:xfrm>
          <a:prstGeom prst="rect">
            <a:avLst/>
          </a:prstGeom>
          <a:solidFill>
            <a:srgbClr val="007A65"/>
          </a:solidFill>
          <a:ln>
            <a:solidFill>
              <a:srgbClr val="007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 0" descr="/mnt/data/template_clean/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1"/>
          <p:cNvSpPr txBox="1"/>
          <p:nvPr/>
        </p:nvSpPr>
        <p:spPr>
          <a:xfrm>
            <a:off x="594360" y="460947"/>
            <a:ext cx="6903720" cy="42989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004236"/>
                </a:solidFill>
                <a:latin typeface="微软雅黑"/>
                <a:sym typeface="+mn-ea"/>
              </a:rPr>
              <a:t>逐字段示范③：配课表“上课日期与开课日期”怎么查</a:t>
            </a:r>
            <a:endParaRPr sz="2200" b="1">
              <a:solidFill>
                <a:srgbClr val="004236"/>
              </a:solidFill>
              <a:latin typeface="微软雅黑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03504" y="922782"/>
            <a:ext cx="896112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950" b="0">
                <a:solidFill>
                  <a:srgbClr val="606F6A"/>
                </a:solidFill>
                <a:latin typeface="微软雅黑"/>
              </a:rPr>
              <a:t>把示例数据拆回源字段，按“命中规则—异常原因—处理动作”完成判断。</a:t>
            </a:r>
            <a:endParaRPr sz="950" b="0">
              <a:solidFill>
                <a:srgbClr val="606F6A"/>
              </a:solidFill>
              <a:latin typeface="微软雅黑"/>
            </a:endParaRPr>
          </a:p>
        </p:txBody>
      </p:sp>
      <p:sp>
        <p:nvSpPr>
          <p:cNvPr id="6" name="Rounded Rectangle 4"/>
          <p:cNvSpPr/>
          <p:nvPr/>
        </p:nvSpPr>
        <p:spPr>
          <a:xfrm>
            <a:off x="658368" y="1525397"/>
            <a:ext cx="2057400" cy="301752"/>
          </a:xfrm>
          <a:prstGeom prst="roundRect">
            <a:avLst/>
          </a:prstGeom>
          <a:solidFill>
            <a:srgbClr val="004236"/>
          </a:solidFill>
          <a:ln>
            <a:solidFill>
              <a:srgbClr val="004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示例字段拆解</a:t>
            </a:r>
            <a:endParaRPr sz="1100" b="1">
              <a:solidFill>
                <a:srgbClr val="FFFFFF"/>
              </a:solidFill>
              <a:latin typeface="微软雅黑"/>
            </a:endParaRPr>
          </a:p>
        </p:txBody>
      </p:sp>
      <p:graphicFrame>
        <p:nvGraphicFramePr>
          <p:cNvPr id="7" name="Table 5"/>
          <p:cNvGraphicFramePr>
            <a:graphicFrameLocks noGrp="1"/>
          </p:cNvGraphicFramePr>
          <p:nvPr/>
        </p:nvGraphicFramePr>
        <p:xfrm>
          <a:off x="658368" y="1927733"/>
          <a:ext cx="5532120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971800"/>
                <a:gridCol w="114300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字段</a:t>
                      </a:r>
                      <a:endParaRPr sz="105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 anchorCtr="0">
                    <a:solidFill>
                      <a:srgbClr val="004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示例值</a:t>
                      </a:r>
                      <a:endParaRPr sz="105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 anchorCtr="0">
                    <a:solidFill>
                      <a:srgbClr val="004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判断</a:t>
                      </a:r>
                      <a:endParaRPr sz="105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 anchorCtr="0">
                    <a:solidFill>
                      <a:srgbClr val="00423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10201C"/>
                          </a:solidFill>
                          <a:latin typeface="微软雅黑"/>
                        </a:rPr>
                        <a:t>班级编号</a:t>
                      </a:r>
                      <a:endParaRPr sz="930" b="1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0201C"/>
                          </a:solidFill>
                          <a:latin typeface="微软雅黑"/>
                        </a:rPr>
                        <a:t>GYSXA3778</a:t>
                      </a:r>
                      <a:endParaRPr sz="930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5B6670"/>
                          </a:solidFill>
                          <a:latin typeface="微软雅黑"/>
                        </a:rPr>
                        <a:t>定位</a:t>
                      </a:r>
                      <a:r>
                        <a:rPr lang="zh-CN" sz="930" b="1">
                          <a:solidFill>
                            <a:srgbClr val="5B6670"/>
                          </a:solidFill>
                          <a:latin typeface="微软雅黑"/>
                        </a:rPr>
                        <a:t>班级</a:t>
                      </a:r>
                      <a:endParaRPr lang="zh-CN" sz="930" b="1">
                        <a:solidFill>
                          <a:srgbClr val="5B6670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10201C"/>
                          </a:solidFill>
                          <a:latin typeface="微软雅黑"/>
                        </a:rPr>
                        <a:t>班级名称</a:t>
                      </a:r>
                      <a:endParaRPr sz="930" b="1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0201C"/>
                          </a:solidFill>
                          <a:latin typeface="微软雅黑"/>
                        </a:rPr>
                        <a:t>高一数学暑假行远班</a:t>
                      </a:r>
                      <a:endParaRPr sz="930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5B6670"/>
                          </a:solidFill>
                          <a:latin typeface="微软雅黑"/>
                        </a:rPr>
                        <a:t>核对班级</a:t>
                      </a:r>
                      <a:endParaRPr sz="930" b="1">
                        <a:solidFill>
                          <a:srgbClr val="5B6670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10201C"/>
                          </a:solidFill>
                          <a:latin typeface="微软雅黑"/>
                        </a:rPr>
                        <a:t>日期</a:t>
                      </a:r>
                      <a:endParaRPr sz="930" b="1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0201C"/>
                          </a:solidFill>
                          <a:latin typeface="微软雅黑"/>
                        </a:rPr>
                        <a:t>2026-07-31</a:t>
                      </a:r>
                      <a:endParaRPr sz="930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FF0000"/>
                          </a:solidFill>
                          <a:latin typeface="微软雅黑"/>
                          <a:ea typeface="微软雅黑"/>
                        </a:rPr>
                        <a:t>上课日期早于开课日期当月</a:t>
                      </a:r>
                      <a:r>
                        <a:rPr lang="en-US" altLang="zh-CN" sz="1000" b="0" i="0">
                          <a:solidFill>
                            <a:srgbClr val="FF0000"/>
                          </a:solidFill>
                          <a:latin typeface="微软雅黑"/>
                          <a:ea typeface="微软雅黑"/>
                        </a:rPr>
                        <a:t>，</a:t>
                      </a:r>
                      <a:r>
                        <a:rPr lang="zh-CN" altLang="en-US" sz="1000" b="0" i="0">
                          <a:solidFill>
                            <a:srgbClr val="FF0000"/>
                          </a:solidFill>
                          <a:latin typeface="微软雅黑"/>
                          <a:ea typeface="微软雅黑"/>
                        </a:rPr>
                        <a:t>命中异常</a:t>
                      </a:r>
                      <a:endParaRPr lang="zh-CN" altLang="en-US" sz="1000" b="0" i="0">
                        <a:solidFill>
                          <a:srgbClr val="FF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solidFill>
                      <a:srgbClr val="ED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10201C"/>
                          </a:solidFill>
                          <a:latin typeface="微软雅黑"/>
                        </a:rPr>
                        <a:t>开课日期</a:t>
                      </a:r>
                      <a:endParaRPr sz="930" b="1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0201C"/>
                          </a:solidFill>
                          <a:latin typeface="微软雅黑"/>
                        </a:rPr>
                        <a:t>2029-06-01</a:t>
                      </a:r>
                      <a:endParaRPr sz="930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FFFFFF"/>
                    </a:solidFill>
                  </a:tcPr>
                </a:tc>
                <a:tc vMerge="1">
                  <a:tcPr marL="45720" marR="45720" marT="27432" marB="27432" anchor="ctr" anchorCtr="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zh-CN" sz="930" b="1">
                          <a:solidFill>
                            <a:srgbClr val="10201C"/>
                          </a:solidFill>
                          <a:latin typeface="微软雅黑"/>
                        </a:rPr>
                        <a:t>课次</a:t>
                      </a:r>
                      <a:endParaRPr lang="zh-CN" sz="930" b="1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30">
                          <a:solidFill>
                            <a:srgbClr val="10201C"/>
                          </a:solidFill>
                          <a:latin typeface="微软雅黑"/>
                        </a:rPr>
                        <a:t>1</a:t>
                      </a:r>
                      <a:endParaRPr lang="en-US" sz="930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5B6670"/>
                          </a:solidFill>
                          <a:latin typeface="微软雅黑"/>
                        </a:rPr>
                        <a:t>纳入检查</a:t>
                      </a:r>
                      <a:endParaRPr sz="930" b="1">
                        <a:solidFill>
                          <a:srgbClr val="5B6670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6"/>
          <p:cNvSpPr/>
          <p:nvPr/>
        </p:nvSpPr>
        <p:spPr>
          <a:xfrm>
            <a:off x="6537960" y="1525397"/>
            <a:ext cx="2057400" cy="301752"/>
          </a:xfrm>
          <a:prstGeom prst="roundRect">
            <a:avLst/>
          </a:prstGeom>
          <a:solidFill>
            <a:srgbClr val="004236"/>
          </a:solidFill>
          <a:ln>
            <a:solidFill>
              <a:srgbClr val="004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答案与处理</a:t>
            </a:r>
            <a:endParaRPr sz="11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6537960" y="2185035"/>
            <a:ext cx="5074920" cy="619760"/>
          </a:xfrm>
          <a:prstGeom prst="roundRect">
            <a:avLst/>
          </a:prstGeom>
          <a:solidFill>
            <a:srgbClr val="F9FBFA"/>
          </a:solidFill>
          <a:ln w="10160">
            <a:solidFill>
              <a:srgbClr val="D7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09728" bIns="54864" rtlCol="0" anchor="t"/>
          <a:lstStyle/>
          <a:p>
            <a:pPr algn="ctr">
              <a:spcAft>
                <a:spcPts val="400"/>
              </a:spcAft>
            </a:pPr>
            <a:r>
              <a:rPr sz="1220" b="1">
                <a:solidFill>
                  <a:srgbClr val="004236"/>
                </a:solidFill>
                <a:latin typeface="微软雅黑"/>
              </a:rPr>
              <a:t>命中规则</a:t>
            </a:r>
            <a:endParaRPr sz="1220" b="1">
              <a:solidFill>
                <a:srgbClr val="004236"/>
              </a:solidFill>
              <a:latin typeface="微软雅黑"/>
            </a:endParaRPr>
          </a:p>
          <a:p>
            <a:pPr algn="ctr">
              <a:lnSpc>
                <a:spcPct val="108000"/>
              </a:lnSpc>
              <a:defRPr sz="1020">
                <a:solidFill>
                  <a:srgbClr val="10201C"/>
                </a:solidFill>
                <a:latin typeface="微软雅黑"/>
              </a:defRPr>
            </a:pPr>
            <a:r>
              <a:rPr lang="zh-CN">
                <a:sym typeface="+mn-ea"/>
              </a:rPr>
              <a:t>配</a:t>
            </a:r>
            <a:r>
              <a:rPr>
                <a:sym typeface="+mn-ea"/>
              </a:rPr>
              <a:t>课表质检-18-上课日期不早于开课日期当月</a:t>
            </a:r>
            <a:endParaRPr>
              <a:sym typeface="+mn-ea"/>
            </a:endParaRPr>
          </a:p>
        </p:txBody>
      </p:sp>
      <p:sp>
        <p:nvSpPr>
          <p:cNvPr id="10" name="Rectangle 8"/>
          <p:cNvSpPr/>
          <p:nvPr/>
        </p:nvSpPr>
        <p:spPr>
          <a:xfrm>
            <a:off x="6537960" y="2185035"/>
            <a:ext cx="76200" cy="638175"/>
          </a:xfrm>
          <a:prstGeom prst="rect">
            <a:avLst/>
          </a:prstGeom>
          <a:solidFill>
            <a:srgbClr val="F6B500"/>
          </a:solidFill>
          <a:ln>
            <a:solidFill>
              <a:srgbClr val="F6B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9"/>
          <p:cNvSpPr/>
          <p:nvPr/>
        </p:nvSpPr>
        <p:spPr>
          <a:xfrm>
            <a:off x="6537960" y="3145790"/>
            <a:ext cx="5074920" cy="711200"/>
          </a:xfrm>
          <a:prstGeom prst="roundRect">
            <a:avLst/>
          </a:prstGeom>
          <a:solidFill>
            <a:srgbClr val="F9FBFA"/>
          </a:solidFill>
          <a:ln w="10160">
            <a:solidFill>
              <a:srgbClr val="D7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09728" bIns="54864" rtlCol="0" anchor="t"/>
          <a:lstStyle/>
          <a:p>
            <a:pPr algn="ctr">
              <a:spcAft>
                <a:spcPts val="400"/>
              </a:spcAft>
            </a:pPr>
            <a:r>
              <a:rPr sz="1220" b="1">
                <a:solidFill>
                  <a:srgbClr val="004236"/>
                </a:solidFill>
                <a:latin typeface="微软雅黑"/>
              </a:rPr>
              <a:t>为什么异常</a:t>
            </a:r>
            <a:endParaRPr sz="1220" b="1">
              <a:solidFill>
                <a:srgbClr val="004236"/>
              </a:solidFill>
              <a:latin typeface="微软雅黑"/>
            </a:endParaRPr>
          </a:p>
          <a:p>
            <a:pPr algn="ctr">
              <a:lnSpc>
                <a:spcPct val="108000"/>
              </a:lnSpc>
              <a:defRPr sz="1020">
                <a:solidFill>
                  <a:srgbClr val="10201C"/>
                </a:solidFill>
                <a:latin typeface="微软雅黑"/>
              </a:defRPr>
            </a:pPr>
            <a:r>
              <a:rPr lang="zh-CN">
                <a:sym typeface="+mn-ea"/>
              </a:rPr>
              <a:t>第一次课</a:t>
            </a:r>
            <a:r>
              <a:rPr lang="en-US" altLang="zh-CN">
                <a:sym typeface="+mn-ea"/>
              </a:rPr>
              <a:t>，</a:t>
            </a:r>
            <a:r>
              <a:rPr>
                <a:sym typeface="+mn-ea"/>
              </a:rPr>
              <a:t>课次日期为 2026-07-31，开课日期为 2029-06-01，月份明显不一致</a:t>
            </a:r>
            <a:endParaRPr>
              <a:sym typeface="+mn-ea"/>
            </a:endParaRPr>
          </a:p>
        </p:txBody>
      </p:sp>
      <p:sp>
        <p:nvSpPr>
          <p:cNvPr id="12" name="Rectangle 10"/>
          <p:cNvSpPr/>
          <p:nvPr/>
        </p:nvSpPr>
        <p:spPr>
          <a:xfrm>
            <a:off x="6537960" y="3145790"/>
            <a:ext cx="76200" cy="681990"/>
          </a:xfrm>
          <a:prstGeom prst="rect">
            <a:avLst/>
          </a:prstGeom>
          <a:solidFill>
            <a:srgbClr val="D84C3E"/>
          </a:solidFill>
          <a:ln>
            <a:solidFill>
              <a:srgbClr val="D84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1"/>
          <p:cNvSpPr/>
          <p:nvPr/>
        </p:nvSpPr>
        <p:spPr>
          <a:xfrm>
            <a:off x="6537960" y="4297680"/>
            <a:ext cx="5074920" cy="638810"/>
          </a:xfrm>
          <a:prstGeom prst="roundRect">
            <a:avLst/>
          </a:prstGeom>
          <a:solidFill>
            <a:srgbClr val="F9FBFA"/>
          </a:solidFill>
          <a:ln w="10160">
            <a:solidFill>
              <a:srgbClr val="D7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09728" bIns="54864" rtlCol="0" anchor="t"/>
          <a:lstStyle/>
          <a:p>
            <a:pPr algn="ctr">
              <a:spcAft>
                <a:spcPts val="400"/>
              </a:spcAft>
            </a:pPr>
            <a:r>
              <a:rPr sz="1220" b="1">
                <a:solidFill>
                  <a:srgbClr val="004236"/>
                </a:solidFill>
                <a:latin typeface="微软雅黑"/>
              </a:rPr>
              <a:t>应该怎么改</a:t>
            </a:r>
            <a:endParaRPr sz="1220" b="1">
              <a:solidFill>
                <a:srgbClr val="004236"/>
              </a:solidFill>
              <a:latin typeface="微软雅黑"/>
            </a:endParaRPr>
          </a:p>
          <a:p>
            <a:pPr>
              <a:lnSpc>
                <a:spcPct val="108000"/>
              </a:lnSpc>
              <a:defRPr sz="1020">
                <a:solidFill>
                  <a:srgbClr val="10201C"/>
                </a:solidFill>
                <a:latin typeface="微软雅黑"/>
              </a:defRPr>
            </a:pPr>
            <a:r>
              <a:rPr>
                <a:sym typeface="+mn-ea"/>
              </a:rPr>
              <a:t>核对实际开课时间，将上课日期或开课日期修正到同一月份；确认后重新导出复检。</a:t>
            </a:r>
            <a:endParaRPr>
              <a:sym typeface="+mn-ea"/>
            </a:endParaRPr>
          </a:p>
        </p:txBody>
      </p:sp>
      <p:sp>
        <p:nvSpPr>
          <p:cNvPr id="14" name="Rectangle 12"/>
          <p:cNvSpPr/>
          <p:nvPr/>
        </p:nvSpPr>
        <p:spPr>
          <a:xfrm>
            <a:off x="6537960" y="4297680"/>
            <a:ext cx="76200" cy="656590"/>
          </a:xfrm>
          <a:prstGeom prst="rect">
            <a:avLst/>
          </a:prstGeom>
          <a:solidFill>
            <a:srgbClr val="007A65"/>
          </a:solidFill>
          <a:ln>
            <a:solidFill>
              <a:srgbClr val="007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 0" descr="/mnt/data/template_clean/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1"/>
          <p:cNvSpPr txBox="1"/>
          <p:nvPr/>
        </p:nvSpPr>
        <p:spPr>
          <a:xfrm>
            <a:off x="594360" y="460947"/>
            <a:ext cx="6172200" cy="42989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004236"/>
                </a:solidFill>
                <a:latin typeface="微软雅黑"/>
                <a:sym typeface="+mn-ea"/>
              </a:rPr>
              <a:t>逐字段示范④：配课表“异常审核/打卡”怎么查</a:t>
            </a:r>
            <a:endParaRPr sz="2200" b="1">
              <a:solidFill>
                <a:srgbClr val="004236"/>
              </a:solidFill>
              <a:latin typeface="微软雅黑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03504" y="922782"/>
            <a:ext cx="896112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950" b="0">
                <a:solidFill>
                  <a:srgbClr val="606F6A"/>
                </a:solidFill>
                <a:latin typeface="微软雅黑"/>
              </a:rPr>
              <a:t>把示例数据拆回源字段，按“命中规则—异常原因—处理动作”完成判断。</a:t>
            </a:r>
            <a:endParaRPr sz="950" b="0">
              <a:solidFill>
                <a:srgbClr val="606F6A"/>
              </a:solidFill>
              <a:latin typeface="微软雅黑"/>
            </a:endParaRPr>
          </a:p>
        </p:txBody>
      </p:sp>
      <p:sp>
        <p:nvSpPr>
          <p:cNvPr id="6" name="Rounded Rectangle 4"/>
          <p:cNvSpPr/>
          <p:nvPr/>
        </p:nvSpPr>
        <p:spPr>
          <a:xfrm>
            <a:off x="658368" y="1525397"/>
            <a:ext cx="2057400" cy="301752"/>
          </a:xfrm>
          <a:prstGeom prst="roundRect">
            <a:avLst/>
          </a:prstGeom>
          <a:solidFill>
            <a:srgbClr val="004236"/>
          </a:solidFill>
          <a:ln>
            <a:solidFill>
              <a:srgbClr val="004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示例字段拆解</a:t>
            </a:r>
            <a:endParaRPr sz="1100" b="1">
              <a:solidFill>
                <a:srgbClr val="FFFFFF"/>
              </a:solidFill>
              <a:latin typeface="微软雅黑"/>
            </a:endParaRPr>
          </a:p>
        </p:txBody>
      </p:sp>
      <p:graphicFrame>
        <p:nvGraphicFramePr>
          <p:cNvPr id="7" name="Table 5"/>
          <p:cNvGraphicFramePr>
            <a:graphicFrameLocks noGrp="1"/>
          </p:cNvGraphicFramePr>
          <p:nvPr/>
        </p:nvGraphicFramePr>
        <p:xfrm>
          <a:off x="658368" y="1927733"/>
          <a:ext cx="5532120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971800"/>
                <a:gridCol w="114300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字段</a:t>
                      </a:r>
                      <a:endParaRPr sz="105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 anchorCtr="0">
                    <a:solidFill>
                      <a:srgbClr val="004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示例值</a:t>
                      </a:r>
                      <a:endParaRPr sz="105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 anchorCtr="0">
                    <a:solidFill>
                      <a:srgbClr val="004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判断</a:t>
                      </a:r>
                      <a:endParaRPr sz="105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 anchorCtr="0">
                    <a:solidFill>
                      <a:srgbClr val="00423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10201C"/>
                          </a:solidFill>
                          <a:latin typeface="微软雅黑"/>
                        </a:rPr>
                        <a:t>班级名称</a:t>
                      </a:r>
                      <a:endParaRPr sz="930" b="1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0201C"/>
                          </a:solidFill>
                          <a:latin typeface="微软雅黑"/>
                        </a:rPr>
                        <a:t>SY思维智慧3B（暑）</a:t>
                      </a:r>
                      <a:endParaRPr sz="930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930" b="1">
                          <a:solidFill>
                            <a:srgbClr val="5B6670"/>
                          </a:solidFill>
                          <a:latin typeface="微软雅黑"/>
                        </a:rPr>
                        <a:t>非集团子母</a:t>
                      </a:r>
                      <a:r>
                        <a:rPr lang="zh-CN" sz="930" b="1">
                          <a:solidFill>
                            <a:srgbClr val="5B6670"/>
                          </a:solidFill>
                          <a:latin typeface="微软雅黑"/>
                        </a:rPr>
                        <a:t>班</a:t>
                      </a:r>
                      <a:endParaRPr lang="zh-CN" sz="930" b="1">
                        <a:solidFill>
                          <a:srgbClr val="5B6670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10201C"/>
                          </a:solidFill>
                          <a:latin typeface="微软雅黑"/>
                        </a:rPr>
                        <a:t>审核状态</a:t>
                      </a:r>
                      <a:endParaRPr sz="930" b="1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0201C"/>
                          </a:solidFill>
                          <a:latin typeface="微软雅黑"/>
                        </a:rPr>
                        <a:t>已审核</a:t>
                      </a:r>
                      <a:endParaRPr sz="930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5B6670"/>
                          </a:solidFill>
                          <a:latin typeface="微软雅黑"/>
                        </a:rPr>
                        <a:t>纳入检查</a:t>
                      </a:r>
                      <a:endParaRPr sz="930" b="1">
                        <a:solidFill>
                          <a:srgbClr val="5B6670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10201C"/>
                          </a:solidFill>
                          <a:latin typeface="微软雅黑"/>
                        </a:rPr>
                        <a:t>分钟数</a:t>
                      </a:r>
                      <a:endParaRPr sz="930" b="1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0201C"/>
                          </a:solidFill>
                          <a:latin typeface="微软雅黑"/>
                        </a:rPr>
                        <a:t>120</a:t>
                      </a:r>
                      <a:endParaRPr sz="930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5B6670"/>
                          </a:solidFill>
                          <a:latin typeface="微软雅黑"/>
                        </a:rPr>
                        <a:t>非1分钟例外</a:t>
                      </a:r>
                      <a:endParaRPr sz="930" b="1">
                        <a:solidFill>
                          <a:srgbClr val="5B6670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10201C"/>
                          </a:solidFill>
                          <a:latin typeface="微软雅黑"/>
                        </a:rPr>
                        <a:t>学员打卡状态</a:t>
                      </a:r>
                      <a:endParaRPr sz="930" b="1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0201C"/>
                          </a:solidFill>
                          <a:latin typeface="微软雅黑"/>
                        </a:rPr>
                        <a:t>未打卡</a:t>
                      </a:r>
                      <a:endParaRPr sz="930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930" b="1">
                          <a:solidFill>
                            <a:srgbClr val="D84C3E"/>
                          </a:solidFill>
                          <a:latin typeface="微软雅黑"/>
                        </a:rPr>
                        <a:t>命中异常</a:t>
                      </a:r>
                      <a:endParaRPr sz="930" b="1">
                        <a:solidFill>
                          <a:srgbClr val="D84C3E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10201C"/>
                          </a:solidFill>
                          <a:latin typeface="微软雅黑"/>
                        </a:rPr>
                        <a:t>教师打卡状态</a:t>
                      </a:r>
                      <a:endParaRPr sz="930" b="1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0201C"/>
                          </a:solidFill>
                          <a:latin typeface="微软雅黑"/>
                        </a:rPr>
                        <a:t>打卡</a:t>
                      </a:r>
                      <a:endParaRPr sz="930">
                        <a:solidFill>
                          <a:srgbClr val="10201C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5B6670"/>
                          </a:solidFill>
                          <a:latin typeface="微软雅黑"/>
                        </a:rPr>
                        <a:t>教师正常</a:t>
                      </a:r>
                      <a:endParaRPr sz="930" b="1">
                        <a:solidFill>
                          <a:srgbClr val="5B6670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 anchorCtr="0">
                    <a:solidFill>
                      <a:srgbClr val="ED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6"/>
          <p:cNvSpPr/>
          <p:nvPr/>
        </p:nvSpPr>
        <p:spPr>
          <a:xfrm>
            <a:off x="6537960" y="1525397"/>
            <a:ext cx="2057400" cy="301752"/>
          </a:xfrm>
          <a:prstGeom prst="roundRect">
            <a:avLst/>
          </a:prstGeom>
          <a:solidFill>
            <a:srgbClr val="004236"/>
          </a:solidFill>
          <a:ln>
            <a:solidFill>
              <a:srgbClr val="004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答案与处理</a:t>
            </a:r>
            <a:endParaRPr sz="11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6537960" y="2185035"/>
            <a:ext cx="5074920" cy="619760"/>
          </a:xfrm>
          <a:prstGeom prst="roundRect">
            <a:avLst/>
          </a:prstGeom>
          <a:solidFill>
            <a:srgbClr val="F9FBFA"/>
          </a:solidFill>
          <a:ln w="10160">
            <a:solidFill>
              <a:srgbClr val="D7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09728" bIns="54864" rtlCol="0" anchor="t"/>
          <a:lstStyle/>
          <a:p>
            <a:pPr algn="ctr">
              <a:spcAft>
                <a:spcPts val="400"/>
              </a:spcAft>
            </a:pPr>
            <a:r>
              <a:rPr sz="1220" b="1">
                <a:solidFill>
                  <a:srgbClr val="004236"/>
                </a:solidFill>
                <a:latin typeface="微软雅黑"/>
              </a:rPr>
              <a:t>命中规则</a:t>
            </a:r>
            <a:endParaRPr sz="1220" b="1">
              <a:solidFill>
                <a:srgbClr val="004236"/>
              </a:solidFill>
              <a:latin typeface="微软雅黑"/>
            </a:endParaRPr>
          </a:p>
          <a:p>
            <a:pPr algn="ctr">
              <a:lnSpc>
                <a:spcPct val="108000"/>
              </a:lnSpc>
              <a:defRPr sz="1020">
                <a:solidFill>
                  <a:srgbClr val="10201C"/>
                </a:solidFill>
                <a:latin typeface="微软雅黑"/>
              </a:defRPr>
            </a:pPr>
            <a:r>
              <a:rPr>
                <a:sym typeface="+mn-ea"/>
              </a:rPr>
              <a:t>配课表质检-6-异常审核配课表</a:t>
            </a:r>
            <a:endParaRPr>
              <a:sym typeface="+mn-ea"/>
            </a:endParaRPr>
          </a:p>
        </p:txBody>
      </p:sp>
      <p:sp>
        <p:nvSpPr>
          <p:cNvPr id="10" name="Rectangle 8"/>
          <p:cNvSpPr/>
          <p:nvPr/>
        </p:nvSpPr>
        <p:spPr>
          <a:xfrm>
            <a:off x="6537960" y="2185035"/>
            <a:ext cx="76200" cy="638175"/>
          </a:xfrm>
          <a:prstGeom prst="rect">
            <a:avLst/>
          </a:prstGeom>
          <a:solidFill>
            <a:srgbClr val="F6B500"/>
          </a:solidFill>
          <a:ln>
            <a:solidFill>
              <a:srgbClr val="F6B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9"/>
          <p:cNvSpPr/>
          <p:nvPr/>
        </p:nvSpPr>
        <p:spPr>
          <a:xfrm>
            <a:off x="6537960" y="3145790"/>
            <a:ext cx="5074920" cy="711200"/>
          </a:xfrm>
          <a:prstGeom prst="roundRect">
            <a:avLst/>
          </a:prstGeom>
          <a:solidFill>
            <a:srgbClr val="F9FBFA"/>
          </a:solidFill>
          <a:ln w="10160">
            <a:solidFill>
              <a:srgbClr val="D7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09728" bIns="54864" rtlCol="0" anchor="t"/>
          <a:lstStyle/>
          <a:p>
            <a:pPr algn="ctr">
              <a:spcAft>
                <a:spcPts val="400"/>
              </a:spcAft>
            </a:pPr>
            <a:r>
              <a:rPr sz="1220" b="1">
                <a:solidFill>
                  <a:srgbClr val="004236"/>
                </a:solidFill>
                <a:latin typeface="微软雅黑"/>
              </a:rPr>
              <a:t>为什么异常</a:t>
            </a:r>
            <a:endParaRPr sz="1220" b="1">
              <a:solidFill>
                <a:srgbClr val="004236"/>
              </a:solidFill>
              <a:latin typeface="微软雅黑"/>
            </a:endParaRPr>
          </a:p>
          <a:p>
            <a:pPr algn="ctr">
              <a:lnSpc>
                <a:spcPct val="108000"/>
              </a:lnSpc>
              <a:defRPr sz="1020">
                <a:solidFill>
                  <a:srgbClr val="10201C"/>
                </a:solidFill>
                <a:latin typeface="微软雅黑"/>
              </a:defRPr>
            </a:pPr>
            <a:r>
              <a:rPr>
                <a:sym typeface="+mn-ea"/>
              </a:rPr>
              <a:t>学员打卡状态为“未打卡”，且不属于1 分钟课次，也不是集团子母班</a:t>
            </a:r>
            <a:endParaRPr>
              <a:sym typeface="+mn-ea"/>
            </a:endParaRPr>
          </a:p>
        </p:txBody>
      </p:sp>
      <p:sp>
        <p:nvSpPr>
          <p:cNvPr id="12" name="Rectangle 10"/>
          <p:cNvSpPr/>
          <p:nvPr/>
        </p:nvSpPr>
        <p:spPr>
          <a:xfrm>
            <a:off x="6537960" y="3145790"/>
            <a:ext cx="76200" cy="681990"/>
          </a:xfrm>
          <a:prstGeom prst="rect">
            <a:avLst/>
          </a:prstGeom>
          <a:solidFill>
            <a:srgbClr val="D84C3E"/>
          </a:solidFill>
          <a:ln>
            <a:solidFill>
              <a:srgbClr val="D84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1"/>
          <p:cNvSpPr/>
          <p:nvPr/>
        </p:nvSpPr>
        <p:spPr>
          <a:xfrm>
            <a:off x="6537960" y="4297680"/>
            <a:ext cx="5074920" cy="638810"/>
          </a:xfrm>
          <a:prstGeom prst="roundRect">
            <a:avLst/>
          </a:prstGeom>
          <a:solidFill>
            <a:srgbClr val="F9FBFA"/>
          </a:solidFill>
          <a:ln w="10160">
            <a:solidFill>
              <a:srgbClr val="D7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09728" bIns="54864" rtlCol="0" anchor="t"/>
          <a:lstStyle/>
          <a:p>
            <a:pPr algn="ctr">
              <a:spcAft>
                <a:spcPts val="400"/>
              </a:spcAft>
            </a:pPr>
            <a:r>
              <a:rPr sz="1220" b="1">
                <a:solidFill>
                  <a:srgbClr val="004236"/>
                </a:solidFill>
                <a:latin typeface="微软雅黑"/>
              </a:rPr>
              <a:t>应该怎么改</a:t>
            </a:r>
            <a:endParaRPr sz="1220" b="1">
              <a:solidFill>
                <a:srgbClr val="004236"/>
              </a:solidFill>
              <a:latin typeface="微软雅黑"/>
            </a:endParaRPr>
          </a:p>
          <a:p>
            <a:pPr>
              <a:lnSpc>
                <a:spcPct val="108000"/>
              </a:lnSpc>
              <a:defRPr sz="1020">
                <a:solidFill>
                  <a:srgbClr val="10201C"/>
                </a:solidFill>
                <a:latin typeface="微软雅黑"/>
              </a:defRPr>
            </a:pPr>
            <a:r>
              <a:rPr>
                <a:sym typeface="+mn-ea"/>
              </a:rPr>
              <a:t>核对实际考勤并给学员补打卡；如确有特殊场景无法修改，保留说明和截图走申诉。</a:t>
            </a:r>
            <a:endParaRPr>
              <a:sym typeface="+mn-ea"/>
            </a:endParaRPr>
          </a:p>
        </p:txBody>
      </p:sp>
      <p:sp>
        <p:nvSpPr>
          <p:cNvPr id="14" name="Rectangle 12"/>
          <p:cNvSpPr/>
          <p:nvPr/>
        </p:nvSpPr>
        <p:spPr>
          <a:xfrm>
            <a:off x="6537960" y="4297680"/>
            <a:ext cx="76200" cy="656590"/>
          </a:xfrm>
          <a:prstGeom prst="rect">
            <a:avLst/>
          </a:prstGeom>
          <a:solidFill>
            <a:srgbClr val="007A65"/>
          </a:solidFill>
          <a:ln>
            <a:solidFill>
              <a:srgbClr val="007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176272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6B8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培训总结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68680" y="2880360"/>
            <a:ext cx="6126480" cy="14173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看懂质检表：从字段、标准、范围定位问题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按频率闭环：月末处理，次月一日上午复检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及时申诉：结果与实际不一致时保留材料说明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绩效口径：复检仍未修改的异常计入扣分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176272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F6B8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附录</a:t>
            </a:r>
            <a:endParaRPr lang="zh-CN" altLang="en-US" sz="2800" b="1" dirty="0">
              <a:solidFill>
                <a:srgbClr val="F6B8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68680" y="2880360"/>
            <a:ext cx="6584315" cy="165544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fontScale="6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</a:t>
            </a:r>
            <a:r>
              <a:rPr lang="zh-CN" altLang="en-US" sz="16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集团申诉链接</a:t>
            </a:r>
            <a:r>
              <a:rPr lang="en-US" altLang="zh-CN" sz="16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：https://alidocs.dingtalk.com/i/nodes/dpYLaezmVNLO1mmXcPgw3ro58rMqPxX6?corpId=ding5b97e5f7d1c55821ee0f45d8e4f7c288&amp;utm_medium=im_card&amp;iframeQuery=utm_medium%3Dim_card%26utm_source%3Dim&amp;utm_scene=person_space&amp;utm_source=im</a:t>
            </a:r>
            <a:endParaRPr lang="en-US" altLang="zh-CN" sz="16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endParaRPr lang="en-US" altLang="zh-CN" sz="16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• </a:t>
            </a:r>
            <a:r>
              <a:rPr lang="zh-CN" altLang="en-US" sz="16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集团质检看板</a:t>
            </a:r>
            <a:r>
              <a:rPr lang="en-US" altLang="zh-CN" sz="16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endParaRPr lang="en-US" altLang="zh-CN" sz="16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altLang="zh-CN" sz="16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https://bibr.staff.xdf.cn/page/h168e8526272540979819bef</a:t>
            </a:r>
            <a:endParaRPr lang="en-US" altLang="zh-CN" sz="16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endParaRPr lang="en-US" altLang="zh-CN" sz="16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• </a:t>
            </a:r>
            <a:r>
              <a:rPr lang="zh-CN" altLang="en-US" sz="16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质检规则核对表</a:t>
            </a:r>
            <a:r>
              <a:rPr lang="en-US" altLang="zh-CN" sz="16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：https://alidocs.dingtalk.com/i/nodes/jb9Y4gmKWr7lgLLoH4Oem4zwVGXn6lpz?utm_scene=person_space</a:t>
            </a:r>
            <a:endParaRPr lang="en-US" altLang="zh-CN" sz="16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77.03000000000003,&quot;left&quot;:94.05,&quot;top&quot;:290.5,&quot;width&quot;:792.72}"/>
</p:tagLst>
</file>

<file path=ppt/tags/tag2.xml><?xml version="1.0" encoding="utf-8"?>
<p:tagLst xmlns:p="http://schemas.openxmlformats.org/presentationml/2006/main">
  <p:tag name="KSO_WM_DIAGRAM_VIRTUALLY_FRAME" val="{&quot;height&quot;:177.03000000000003,&quot;left&quot;:94.05,&quot;top&quot;:290.5,&quot;width&quot;:792.72}"/>
</p:tagLst>
</file>

<file path=ppt/tags/tag3.xml><?xml version="1.0" encoding="utf-8"?>
<p:tagLst xmlns:p="http://schemas.openxmlformats.org/presentationml/2006/main">
  <p:tag name="KSO_WM_DIAGRAM_VIRTUALLY_FRAME" val="{&quot;height&quot;:177.03000000000003,&quot;left&quot;:94.05,&quot;top&quot;:290.5,&quot;width&quot;:792.72}"/>
</p:tagLst>
</file>

<file path=ppt/tags/tag4.xml><?xml version="1.0" encoding="utf-8"?>
<p:tagLst xmlns:p="http://schemas.openxmlformats.org/presentationml/2006/main">
  <p:tag name="KSO_WM_DIAGRAM_VIRTUALLY_FRAME" val="{&quot;height&quot;:177.03000000000003,&quot;left&quot;:94.05,&quot;top&quot;:290.5,&quot;width&quot;:792.72}"/>
</p:tagLst>
</file>

<file path=ppt/tags/tag5.xml><?xml version="1.0" encoding="utf-8"?>
<p:tagLst xmlns:p="http://schemas.openxmlformats.org/presentationml/2006/main">
  <p:tag name="KSO_WM_DIAGRAM_VIRTUALLY_FRAME" val="{&quot;height&quot;:177.03000000000003,&quot;left&quot;:94.05,&quot;top&quot;:290.5,&quot;width&quot;:792.72}"/>
</p:tagLst>
</file>

<file path=ppt/tags/tag6.xml><?xml version="1.0" encoding="utf-8"?>
<p:tagLst xmlns:p="http://schemas.openxmlformats.org/presentationml/2006/main">
  <p:tag name="KSO_WM_DIAGRAM_VIRTUALLY_FRAME" val="{&quot;height&quot;:177.03000000000003,&quot;left&quot;:94.05,&quot;top&quot;:290.5,&quot;width&quot;:792.72}"/>
</p:tagLst>
</file>

<file path=ppt/tags/tag7.xml><?xml version="1.0" encoding="utf-8"?>
<p:tagLst xmlns:p="http://schemas.openxmlformats.org/presentationml/2006/main">
  <p:tag name="KSO_WM_DIAGRAM_VIRTUALLY_FRAME" val="{&quot;height&quot;:177.03000000000003,&quot;left&quot;:94.05,&quot;top&quot;:290.5,&quot;width&quot;:792.72}"/>
</p:tagLst>
</file>

<file path=ppt/tags/tag8.xml><?xml version="1.0" encoding="utf-8"?>
<p:tagLst xmlns:p="http://schemas.openxmlformats.org/presentationml/2006/main">
  <p:tag name="KSO_WM_DIAGRAM_VIRTUALLY_FRAME" val="{&quot;height&quot;:177.03000000000003,&quot;left&quot;:94.05,&quot;top&quot;:290.5,&quot;width&quot;:792.72}"/>
</p:tagLst>
</file>

<file path=ppt/tags/tag9.xml><?xml version="1.0" encoding="utf-8"?>
<p:tagLst xmlns:p="http://schemas.openxmlformats.org/presentationml/2006/main">
  <p:tag name="KSO_WM_DIAGRAM_VIRTUALLY_FRAME" val="{&quot;height&quot;:177.03000000000003,&quot;left&quot;:94.05,&quot;top&quot;:290.5,&quot;width&quot;:792.72}"/>
</p:tagLst>
</file>

<file path=ppt/tags/tag10.xml><?xml version="1.0" encoding="utf-8"?>
<p:tagLst xmlns:p="http://schemas.openxmlformats.org/presentationml/2006/main">
  <p:tag name="KSO_WM_DIAGRAM_VIRTUALLY_FRAME" val="{&quot;height&quot;:177.03000000000003,&quot;left&quot;:94.05,&quot;top&quot;:290.5,&quot;width&quot;:792.72}"/>
</p:tagLst>
</file>

<file path=ppt/tags/tag11.xml><?xml version="1.0" encoding="utf-8"?>
<p:tagLst xmlns:p="http://schemas.openxmlformats.org/presentationml/2006/main">
  <p:tag name="KSO_WM_DIAGRAM_VIRTUALLY_FRAME" val="{&quot;height&quot;:177.03000000000003,&quot;left&quot;:94.05,&quot;top&quot;:290.5,&quot;width&quot;:792.72}"/>
</p:tagLst>
</file>

<file path=ppt/tags/tag12.xml><?xml version="1.0" encoding="utf-8"?>
<p:tagLst xmlns:p="http://schemas.openxmlformats.org/presentationml/2006/main">
  <p:tag name="KSO_WM_DIAGRAM_VIRTUALLY_FRAME" val="{&quot;height&quot;:177.03000000000003,&quot;left&quot;:94.05,&quot;top&quot;:290.5,&quot;width&quot;:792.72}"/>
</p:tagLst>
</file>

<file path=ppt/tags/tag13.xml><?xml version="1.0" encoding="utf-8"?>
<p:tagLst xmlns:p="http://schemas.openxmlformats.org/presentationml/2006/main">
  <p:tag name="KSO_WM_DIAGRAM_VIRTUALLY_FRAME" val="{&quot;height&quot;:177.03000000000003,&quot;left&quot;:94.05,&quot;top&quot;:290.5,&quot;width&quot;:792.72}"/>
</p:tagLst>
</file>

<file path=ppt/tags/tag14.xml><?xml version="1.0" encoding="utf-8"?>
<p:tagLst xmlns:p="http://schemas.openxmlformats.org/presentationml/2006/main">
  <p:tag name="KSO_WM_DIAGRAM_VIRTUALLY_FRAME" val="{&quot;height&quot;:177.03000000000003,&quot;left&quot;:94.05,&quot;top&quot;:290.5,&quot;width&quot;:792.72}"/>
</p:tagLst>
</file>

<file path=ppt/tags/tag15.xml><?xml version="1.0" encoding="utf-8"?>
<p:tagLst xmlns:p="http://schemas.openxmlformats.org/presentationml/2006/main">
  <p:tag name="KSO_WM_DIAGRAM_VIRTUALLY_FRAME" val="{&quot;height&quot;:177.03000000000003,&quot;left&quot;:94.05,&quot;top&quot;:290.5,&quot;width&quot;:792.72}"/>
</p:tagLst>
</file>

<file path=ppt/tags/tag16.xml><?xml version="1.0" encoding="utf-8"?>
<p:tagLst xmlns:p="http://schemas.openxmlformats.org/presentationml/2006/main">
  <p:tag name="KSO_WM_DIAGRAM_VIRTUALLY_FRAME" val="{&quot;height&quot;:177.03000000000003,&quot;left&quot;:94.05,&quot;top&quot;:290.5,&quot;width&quot;:792.72}"/>
</p:tagLst>
</file>

<file path=ppt/tags/tag17.xml><?xml version="1.0" encoding="utf-8"?>
<p:tagLst xmlns:p="http://schemas.openxmlformats.org/presentationml/2006/main">
  <p:tag name="KSO_WM_DIAGRAM_VIRTUALLY_FRAME" val="{&quot;height&quot;:177.03000000000003,&quot;left&quot;:94.05,&quot;top&quot;:290.5,&quot;width&quot;:792.72}"/>
</p:tagLst>
</file>

<file path=ppt/tags/tag18.xml><?xml version="1.0" encoding="utf-8"?>
<p:tagLst xmlns:p="http://schemas.openxmlformats.org/presentationml/2006/main">
  <p:tag name="KSO_WM_DIAGRAM_VIRTUALLY_FRAME" val="{&quot;height&quot;:177.03000000000003,&quot;left&quot;:94.05,&quot;top&quot;:290.5,&quot;width&quot;:792.72}"/>
</p:tagLst>
</file>

<file path=ppt/tags/tag19.xml><?xml version="1.0" encoding="utf-8"?>
<p:tagLst xmlns:p="http://schemas.openxmlformats.org/presentationml/2006/main">
  <p:tag name="KSO_WM_DIAGRAM_VIRTUALLY_FRAME" val="{&quot;height&quot;:177.03000000000003,&quot;left&quot;:94.05,&quot;top&quot;:290.5,&quot;width&quot;:792.72}"/>
</p:tagLst>
</file>

<file path=ppt/tags/tag20.xml><?xml version="1.0" encoding="utf-8"?>
<p:tagLst xmlns:p="http://schemas.openxmlformats.org/presentationml/2006/main">
  <p:tag name="KSO_WM_DIAGRAM_VIRTUALLY_FRAME" val="{&quot;height&quot;:231.84,&quot;left&quot;:109.8,&quot;top&quot;:142.2,&quot;width&quot;:738}"/>
</p:tagLst>
</file>

<file path=ppt/tags/tag21.xml><?xml version="1.0" encoding="utf-8"?>
<p:tagLst xmlns:p="http://schemas.openxmlformats.org/presentationml/2006/main">
  <p:tag name="KSO_WM_DIAGRAM_VIRTUALLY_FRAME" val="{&quot;height&quot;:231.84,&quot;left&quot;:109.8,&quot;top&quot;:142.2,&quot;width&quot;:738}"/>
</p:tagLst>
</file>

<file path=ppt/tags/tag22.xml><?xml version="1.0" encoding="utf-8"?>
<p:tagLst xmlns:p="http://schemas.openxmlformats.org/presentationml/2006/main">
  <p:tag name="KSO_WM_DIAGRAM_VIRTUALLY_FRAME" val="{&quot;height&quot;:231.84,&quot;left&quot;:109.8,&quot;top&quot;:142.2,&quot;width&quot;:738}"/>
</p:tagLst>
</file>

<file path=ppt/tags/tag23.xml><?xml version="1.0" encoding="utf-8"?>
<p:tagLst xmlns:p="http://schemas.openxmlformats.org/presentationml/2006/main">
  <p:tag name="KSO_WM_DIAGRAM_VIRTUALLY_FRAME" val="{&quot;height&quot;:231.84,&quot;left&quot;:109.8,&quot;top&quot;:142.2,&quot;width&quot;:738}"/>
</p:tagLst>
</file>

<file path=ppt/tags/tag24.xml><?xml version="1.0" encoding="utf-8"?>
<p:tagLst xmlns:p="http://schemas.openxmlformats.org/presentationml/2006/main">
  <p:tag name="KSO_WM_DIAGRAM_VIRTUALLY_FRAME" val="{&quot;height&quot;:231.84,&quot;left&quot;:109.8,&quot;top&quot;:142.2,&quot;width&quot;:738}"/>
</p:tagLst>
</file>

<file path=ppt/tags/tag25.xml><?xml version="1.0" encoding="utf-8"?>
<p:tagLst xmlns:p="http://schemas.openxmlformats.org/presentationml/2006/main">
  <p:tag name="KSO_WM_DIAGRAM_VIRTUALLY_FRAME" val="{&quot;height&quot;:231.84,&quot;left&quot;:109.8,&quot;top&quot;:142.2,&quot;width&quot;:738}"/>
</p:tagLst>
</file>

<file path=ppt/tags/tag26.xml><?xml version="1.0" encoding="utf-8"?>
<p:tagLst xmlns:p="http://schemas.openxmlformats.org/presentationml/2006/main">
  <p:tag name="KSO_WM_DIAGRAM_VIRTUALLY_FRAME" val="{&quot;height&quot;:231.84,&quot;left&quot;:109.8,&quot;top&quot;:142.2,&quot;width&quot;:738}"/>
</p:tagLst>
</file>

<file path=ppt/tags/tag27.xml><?xml version="1.0" encoding="utf-8"?>
<p:tagLst xmlns:p="http://schemas.openxmlformats.org/presentationml/2006/main">
  <p:tag name="KSO_WM_DIAGRAM_VIRTUALLY_FRAME" val="{&quot;height&quot;:231.84,&quot;left&quot;:109.8,&quot;top&quot;:142.2,&quot;width&quot;:738}"/>
</p:tagLst>
</file>

<file path=ppt/tags/tag28.xml><?xml version="1.0" encoding="utf-8"?>
<p:tagLst xmlns:p="http://schemas.openxmlformats.org/presentationml/2006/main">
  <p:tag name="KSO_WM_DIAGRAM_VIRTUALLY_FRAME" val="{&quot;height&quot;:231.84,&quot;left&quot;:109.8,&quot;top&quot;:142.2,&quot;width&quot;:738}"/>
</p:tagLst>
</file>

<file path=ppt/tags/tag29.xml><?xml version="1.0" encoding="utf-8"?>
<p:tagLst xmlns:p="http://schemas.openxmlformats.org/presentationml/2006/main">
  <p:tag name="KSO_WM_DIAGRAM_VIRTUALLY_FRAME" val="{&quot;height&quot;:231.84,&quot;left&quot;:109.8,&quot;top&quot;:142.2,&quot;width&quot;:738}"/>
</p:tagLst>
</file>

<file path=ppt/tags/tag30.xml><?xml version="1.0" encoding="utf-8"?>
<p:tagLst xmlns:p="http://schemas.openxmlformats.org/presentationml/2006/main">
  <p:tag name="KSO_WM_DIAGRAM_VIRTUALLY_FRAME" val="{&quot;height&quot;:231.84,&quot;left&quot;:109.8,&quot;top&quot;:142.2,&quot;width&quot;:738}"/>
</p:tagLst>
</file>

<file path=ppt/tags/tag31.xml><?xml version="1.0" encoding="utf-8"?>
<p:tagLst xmlns:p="http://schemas.openxmlformats.org/presentationml/2006/main">
  <p:tag name="KSO_WM_DIAGRAM_VIRTUALLY_FRAME" val="{&quot;height&quot;:231.84,&quot;left&quot;:109.8,&quot;top&quot;:142.2,&quot;width&quot;:738}"/>
</p:tagLst>
</file>

<file path=ppt/tags/tag32.xml><?xml version="1.0" encoding="utf-8"?>
<p:tagLst xmlns:p="http://schemas.openxmlformats.org/presentationml/2006/main">
  <p:tag name="KSO_WM_DIAGRAM_VIRTUALLY_FRAME" val="{&quot;height&quot;:156.95999999999998,&quot;left&quot;:61.2,&quot;top&quot;:190.8,&quot;width&quot;:865.4399999999999}"/>
</p:tagLst>
</file>

<file path=ppt/tags/tag33.xml><?xml version="1.0" encoding="utf-8"?>
<p:tagLst xmlns:p="http://schemas.openxmlformats.org/presentationml/2006/main">
  <p:tag name="KSO_WM_DIAGRAM_VIRTUALLY_FRAME" val="{&quot;height&quot;:156.95999999999998,&quot;left&quot;:61.2,&quot;top&quot;:190.8,&quot;width&quot;:865.4399999999999}"/>
</p:tagLst>
</file>

<file path=ppt/tags/tag34.xml><?xml version="1.0" encoding="utf-8"?>
<p:tagLst xmlns:p="http://schemas.openxmlformats.org/presentationml/2006/main">
  <p:tag name="KSO_WM_DIAGRAM_VIRTUALLY_FRAME" val="{&quot;height&quot;:156.95999999999998,&quot;left&quot;:61.2,&quot;top&quot;:190.8,&quot;width&quot;:865.4399999999999}"/>
</p:tagLst>
</file>

<file path=ppt/tags/tag35.xml><?xml version="1.0" encoding="utf-8"?>
<p:tagLst xmlns:p="http://schemas.openxmlformats.org/presentationml/2006/main">
  <p:tag name="KSO_WM_DIAGRAM_VIRTUALLY_FRAME" val="{&quot;height&quot;:156.95999999999998,&quot;left&quot;:61.2,&quot;top&quot;:190.8,&quot;width&quot;:865.4399999999999}"/>
</p:tagLst>
</file>

<file path=ppt/tags/tag36.xml><?xml version="1.0" encoding="utf-8"?>
<p:tagLst xmlns:p="http://schemas.openxmlformats.org/presentationml/2006/main">
  <p:tag name="KSO_WM_DIAGRAM_VIRTUALLY_FRAME" val="{&quot;height&quot;:156.95999999999998,&quot;left&quot;:61.2,&quot;top&quot;:190.8,&quot;width&quot;:865.4399999999999}"/>
</p:tagLst>
</file>

<file path=ppt/tags/tag37.xml><?xml version="1.0" encoding="utf-8"?>
<p:tagLst xmlns:p="http://schemas.openxmlformats.org/presentationml/2006/main">
  <p:tag name="KSO_WM_DIAGRAM_VIRTUALLY_FRAME" val="{&quot;height&quot;:156.95999999999998,&quot;left&quot;:61.2,&quot;top&quot;:190.8,&quot;width&quot;:865.4399999999999}"/>
</p:tagLst>
</file>

<file path=ppt/tags/tag38.xml><?xml version="1.0" encoding="utf-8"?>
<p:tagLst xmlns:p="http://schemas.openxmlformats.org/presentationml/2006/main">
  <p:tag name="KSO_WM_DIAGRAM_VIRTUALLY_FRAME" val="{&quot;height&quot;:156.95999999999998,&quot;left&quot;:61.2,&quot;top&quot;:190.8,&quot;width&quot;:865.4399999999999}"/>
</p:tagLst>
</file>

<file path=ppt/tags/tag39.xml><?xml version="1.0" encoding="utf-8"?>
<p:tagLst xmlns:p="http://schemas.openxmlformats.org/presentationml/2006/main">
  <p:tag name="KSO_WM_DIAGRAM_VIRTUALLY_FRAME" val="{&quot;height&quot;:156.95999999999998,&quot;left&quot;:61.2,&quot;top&quot;:190.8,&quot;width&quot;:865.4399999999999}"/>
</p:tagLst>
</file>

<file path=ppt/tags/tag40.xml><?xml version="1.0" encoding="utf-8"?>
<p:tagLst xmlns:p="http://schemas.openxmlformats.org/presentationml/2006/main">
  <p:tag name="KSO_WM_DIAGRAM_VIRTUALLY_FRAME" val="{&quot;height&quot;:156.95999999999998,&quot;left&quot;:61.2,&quot;top&quot;:190.8,&quot;width&quot;:865.4399999999999}"/>
</p:tagLst>
</file>

<file path=ppt/tags/tag41.xml><?xml version="1.0" encoding="utf-8"?>
<p:tagLst xmlns:p="http://schemas.openxmlformats.org/presentationml/2006/main">
  <p:tag name="KSO_WM_DIAGRAM_VIRTUALLY_FRAME" val="{&quot;height&quot;:221.04000000000002,&quot;left&quot;:64.8,&quot;top&quot;:112.30999999999999,&quot;width&quot;:832.5}"/>
</p:tagLst>
</file>

<file path=ppt/tags/tag42.xml><?xml version="1.0" encoding="utf-8"?>
<p:tagLst xmlns:p="http://schemas.openxmlformats.org/presentationml/2006/main">
  <p:tag name="KSO_WM_DIAGRAM_VIRTUALLY_FRAME" val="{&quot;height&quot;:221.04000000000002,&quot;left&quot;:64.8,&quot;top&quot;:112.30999999999999,&quot;width&quot;:832.5}"/>
</p:tagLst>
</file>

<file path=ppt/tags/tag43.xml><?xml version="1.0" encoding="utf-8"?>
<p:tagLst xmlns:p="http://schemas.openxmlformats.org/presentationml/2006/main">
  <p:tag name="KSO_WM_DIAGRAM_VIRTUALLY_FRAME" val="{&quot;height&quot;:221.04000000000002,&quot;left&quot;:64.8,&quot;top&quot;:112.30999999999999,&quot;width&quot;:832.5}"/>
</p:tagLst>
</file>

<file path=ppt/tags/tag44.xml><?xml version="1.0" encoding="utf-8"?>
<p:tagLst xmlns:p="http://schemas.openxmlformats.org/presentationml/2006/main">
  <p:tag name="KSO_WM_DIAGRAM_VIRTUALLY_FRAME" val="{&quot;height&quot;:221.04000000000002,&quot;left&quot;:64.8,&quot;top&quot;:112.30999999999999,&quot;width&quot;:832.5}"/>
</p:tagLst>
</file>

<file path=ppt/tags/tag45.xml><?xml version="1.0" encoding="utf-8"?>
<p:tagLst xmlns:p="http://schemas.openxmlformats.org/presentationml/2006/main">
  <p:tag name="KSO_WM_DIAGRAM_VIRTUALLY_FRAME" val="{&quot;height&quot;:221.04000000000002,&quot;left&quot;:64.8,&quot;top&quot;:112.30999999999999,&quot;width&quot;:832.5}"/>
</p:tagLst>
</file>

<file path=ppt/tags/tag46.xml><?xml version="1.0" encoding="utf-8"?>
<p:tagLst xmlns:p="http://schemas.openxmlformats.org/presentationml/2006/main">
  <p:tag name="KSO_WM_DIAGRAM_VIRTUALLY_FRAME" val="{&quot;height&quot;:221.04000000000002,&quot;left&quot;:64.8,&quot;top&quot;:112.30999999999999,&quot;width&quot;:832.5}"/>
</p:tagLst>
</file>

<file path=ppt/tags/tag47.xml><?xml version="1.0" encoding="utf-8"?>
<p:tagLst xmlns:p="http://schemas.openxmlformats.org/presentationml/2006/main">
  <p:tag name="KSO_WM_DIAGRAM_VIRTUALLY_FRAME" val="{&quot;height&quot;:221.04000000000002,&quot;left&quot;:64.8,&quot;top&quot;:112.30999999999999,&quot;width&quot;:832.5}"/>
</p:tagLst>
</file>

<file path=ppt/tags/tag48.xml><?xml version="1.0" encoding="utf-8"?>
<p:tagLst xmlns:p="http://schemas.openxmlformats.org/presentationml/2006/main">
  <p:tag name="KSO_WM_DIAGRAM_VIRTUALLY_FRAME" val="{&quot;height&quot;:221.04000000000002,&quot;left&quot;:64.8,&quot;top&quot;:112.30999999999999,&quot;width&quot;:832.5}"/>
</p:tagLst>
</file>

<file path=ppt/tags/tag49.xml><?xml version="1.0" encoding="utf-8"?>
<p:tagLst xmlns:p="http://schemas.openxmlformats.org/presentationml/2006/main">
  <p:tag name="commondata" val="eyJoZGlkIjoiNTQ0NjE2MGQwYzVmODg3MDMwMzE1NWZiMGQxNGQ1Yj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3857</Words>
  <Application>WPS 演示</Application>
  <PresentationFormat>On-screen Show (16:9)</PresentationFormat>
  <Paragraphs>591</Paragraphs>
  <Slides>21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9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微软雅黑</vt:lpstr>
      <vt:lpstr>微软雅黑</vt:lpstr>
      <vt:lpstr>Calibri</vt:lpstr>
      <vt:lpstr>Helvetica Neue</vt:lpstr>
      <vt:lpstr>汉仪书宋二KW</vt:lpstr>
      <vt:lpstr>等线</vt:lpstr>
      <vt:lpstr>汉仪中等线KW</vt:lpstr>
      <vt:lpstr>宋体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新东方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数据合规质检规则培训</dc:title>
  <dc:creator>OpenAI</dc:creator>
  <dc:subject>企业内部数据合规性数据质检培训</dc:subject>
  <cp:lastModifiedBy>田晓晗3</cp:lastModifiedBy>
  <cp:revision>13</cp:revision>
  <dcterms:created xsi:type="dcterms:W3CDTF">2026-09-04T07:42:29Z</dcterms:created>
  <dcterms:modified xsi:type="dcterms:W3CDTF">2026-09-04T07:42:29Z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9DD8F3DD1CDDC2E20773856AAE815EC4_42</vt:lpwstr>
  </property>
</Properties>
</file>